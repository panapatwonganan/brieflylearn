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FF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FFBA"/>
                </a:solidFill>
                <a:latin typeface="Inter"/>
              </a:rPr>
              <a:t>ANTIPARALLEL  ·  INTERNAL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>
                <a:solidFill>
                  <a:srgbClr val="FAFAFA"/>
                </a:solidFill>
                <a:latin typeface="Inter"/>
              </a:rPr>
              <a:t>Antiparallel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A1A1A1"/>
                </a:solidFill>
                <a:latin typeface="Inter"/>
              </a:rPr>
              <a:t>AI Workflow Automation built for Thai businesses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89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00FFBA"/>
                </a:solidFill>
                <a:latin typeface="IBM Plex Sans Thai"/>
              </a:rPr>
              <a:t>เปลี่ยนความรู้ AI ในห้องเรียน ให้กลายเป็นงานจริงในองค์กร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035040"/>
            <a:ext cx="10698480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172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1A1A1"/>
                </a:solidFill>
                <a:latin typeface="Inter"/>
              </a:rPr>
              <a:t>Board / Investor Strategy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172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A1A1A1"/>
                </a:solidFill>
                <a:latin typeface="Inter"/>
              </a:rPr>
              <a:t>May 2026  ·  v1.0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00FF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8463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FFBA"/>
                </a:solidFill>
                <a:latin typeface="Inter"/>
              </a:rPr>
              <a:t>TL;DR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AFAFA"/>
                </a:solidFill>
                <a:latin typeface="Inter"/>
              </a:rPr>
              <a:t>ถ้าอ่านได้แค่หน้าเดียว อ่านหน้านี้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64240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0FFBA"/>
                </a:solidFill>
                <a:latin typeface="IBM Plex Sans Thai"/>
              </a:rPr>
              <a:t>เราเป็นใคร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11680"/>
            <a:ext cx="8686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AFAFA"/>
                </a:solidFill>
                <a:latin typeface="IBM Plex Sans Thai"/>
              </a:rPr>
              <a:t>Antiparallel — LMS สอน AI ให้องค์กรไทย มีลูกค้า corporate active อยู่แล้ว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974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0FFBA"/>
                </a:solidFill>
                <a:latin typeface="IBM Plex Sans Thai"/>
              </a:rPr>
              <a:t>ปัญหา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697480"/>
            <a:ext cx="8686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AFAFA"/>
                </a:solidFill>
                <a:latin typeface="IBM Plex Sans Thai"/>
              </a:rPr>
              <a:t>ลูกค้าจ่ายค่าเทรน AI หลักแสน-ล้าน แต่พนักงานกลับไปทำงานเดิม ไม่มีระบบให้ใช้ AI ต่อ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832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0FFBA"/>
                </a:solidFill>
                <a:latin typeface="IBM Plex Sans Thai"/>
              </a:rPr>
              <a:t>Insight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383280"/>
            <a:ext cx="8686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AFAFA"/>
                </a:solidFill>
                <a:latin typeface="IBM Plex Sans Thai"/>
              </a:rPr>
              <a:t>ChatGPT/Claude ตามไม่ทันระบบไทย (Line OA, FlowAccount, ใบกำกับภาษี) — ช่องว่างนี้ใครเข้าก็ผูกขาด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0690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0FFBA"/>
                </a:solidFill>
                <a:latin typeface="IBM Plex Sans Thai"/>
              </a:rPr>
              <a:t>ทางออก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4069080"/>
            <a:ext cx="8686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AFAFA"/>
                </a:solidFill>
                <a:latin typeface="IBM Plex Sans Thai"/>
              </a:rPr>
              <a:t>Antiparallel Flow — workflow automation ที่ trigger จากระบบไทย, ใช้ AI ทำงานจริง ไม่ใช่ chat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7548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0FFBA"/>
                </a:solidFill>
                <a:latin typeface="IBM Plex Sans Thai"/>
              </a:rPr>
              <a:t>ทำไมเรา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754880"/>
            <a:ext cx="8686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AFAFA"/>
                </a:solidFill>
                <a:latin typeface="IBM Plex Sans Thai"/>
              </a:rPr>
              <a:t>มี LMS เป็น distribution + ลูกค้า corporate trust แล้ว + ทีมเข้าใจทั้ง AI และ business ไทย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4406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0FFBA"/>
                </a:solidFill>
                <a:latin typeface="IBM Plex Sans Thai"/>
              </a:rPr>
              <a:t>ขอจาก board/investor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5440680"/>
            <a:ext cx="8686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AFAFA"/>
                </a:solidFill>
                <a:latin typeface="IBM Plex Sans Thai"/>
              </a:rPr>
              <a:t>2-3 hires (Implementation, Sales, Integration Eng) + runway 6 เดือน → ARR ฿7-10M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17171"/>
                </a:solidFill>
                <a:latin typeface="Inter"/>
              </a:rPr>
              <a:t>Antiparallel Flow  ·  Strategy Deck  ·  Confidential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17171"/>
                </a:solidFill>
                <a:latin typeface="Inter"/>
              </a:rPr>
              <a:t>02 / 38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00FF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8463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FFBA"/>
                </a:solidFill>
                <a:latin typeface="Inter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AFAFA"/>
                </a:solidFill>
                <a:latin typeface="Inter"/>
              </a:rPr>
              <a:t>What this deck argues, in one page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64240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3657600" cy="21031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FFBA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146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AFAFA"/>
                </a:solidFill>
                <a:latin typeface="Inter"/>
              </a:rPr>
              <a:t>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3200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1A1A1"/>
                </a:solidFill>
                <a:latin typeface="Inter"/>
              </a:rPr>
              <a:t>Corporates spend on AI training, but knowledge dies the moment</a:t>
            </a:r>
          </a:p>
          <a:p>
            <a:pPr algn="l"/>
            <a:r>
              <a:rPr sz="1100" b="0">
                <a:solidFill>
                  <a:srgbClr val="A1A1A1"/>
                </a:solidFill>
                <a:latin typeface="Inter"/>
              </a:rPr>
              <a:t>employees return to a workflow that doesn't support AI.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965960"/>
            <a:ext cx="3657600" cy="21031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19456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FFBA"/>
                </a:solidFill>
                <a:latin typeface="Inter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5146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AFAFA"/>
                </a:solidFill>
                <a:latin typeface="Inter"/>
              </a:rPr>
              <a:t>INSIGHT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926080"/>
            <a:ext cx="3200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1A1A1"/>
                </a:solidFill>
                <a:latin typeface="Inter"/>
              </a:rPr>
              <a:t>Global AI tools (ChatGPT/Claude) can't reach Thai systems —</a:t>
            </a:r>
          </a:p>
          <a:p>
            <a:pPr algn="l"/>
            <a:r>
              <a:rPr sz="1100" b="0">
                <a:solidFill>
                  <a:srgbClr val="A1A1A1"/>
                </a:solidFill>
                <a:latin typeface="Inter"/>
              </a:rPr>
              <a:t>Line OA, FlowAccount, PromptPay, สรรพากร. We can.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965960"/>
            <a:ext cx="3657600" cy="21031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19456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FFBA"/>
                </a:solidFill>
                <a:latin typeface="Inter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5146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AFAFA"/>
                </a:solidFill>
                <a:latin typeface="Inter"/>
              </a:rPr>
              <a:t>PRODUCT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926080"/>
            <a:ext cx="3200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1A1A1"/>
                </a:solidFill>
                <a:latin typeface="Inter"/>
              </a:rPr>
              <a:t>Antiparallel Flow — AI workflow automation that triggers</a:t>
            </a:r>
          </a:p>
          <a:p>
            <a:pPr algn="l"/>
            <a:r>
              <a:rPr sz="1100" b="0">
                <a:solidFill>
                  <a:srgbClr val="A1A1A1"/>
                </a:solidFill>
                <a:latin typeface="Inter"/>
              </a:rPr>
              <a:t>from Thai-specific systems and runs real work, not chat.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206240"/>
            <a:ext cx="3657600" cy="21031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4348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FFBA"/>
                </a:solidFill>
                <a:latin typeface="Inter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7548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AFAFA"/>
                </a:solidFill>
                <a:latin typeface="Inter"/>
              </a:rPr>
              <a:t>GTM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166360"/>
            <a:ext cx="3200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1A1A1"/>
                </a:solidFill>
                <a:latin typeface="Inter"/>
              </a:rPr>
              <a:t>Distribute through existing LMS corporate customers.</a:t>
            </a:r>
          </a:p>
          <a:p>
            <a:pPr algn="l"/>
            <a:r>
              <a:rPr sz="1100" b="0">
                <a:solidFill>
                  <a:srgbClr val="A1A1A1"/>
                </a:solidFill>
                <a:latin typeface="Inter"/>
              </a:rPr>
              <a:t>Done-for-you in months 1–2, then productize into Workflow Packs.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43400" y="4206240"/>
            <a:ext cx="3657600" cy="21031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44348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FFBA"/>
                </a:solidFill>
                <a:latin typeface="Inter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47548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AFAFA"/>
                </a:solidFill>
                <a:latin typeface="Inter"/>
              </a:rPr>
              <a:t>ECONOMICS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5166360"/>
            <a:ext cx="3200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1A1A1"/>
                </a:solidFill>
                <a:latin typeface="Inter"/>
              </a:rPr>
              <a:t>ARR per deal ฿420k (mid) to ฿2.4M (enterprise).</a:t>
            </a:r>
          </a:p>
          <a:p>
            <a:pPr algn="l"/>
            <a:r>
              <a:rPr sz="1100" b="0">
                <a:solidFill>
                  <a:srgbClr val="A1A1A1"/>
                </a:solidFill>
                <a:latin typeface="Inter"/>
              </a:rPr>
              <a:t>Target ฿7–10M ARR by Month 6, 20+ paying customers.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4206240"/>
            <a:ext cx="3657600" cy="21031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44348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FFBA"/>
                </a:solidFill>
                <a:latin typeface="Inter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7548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AFAFA"/>
                </a:solidFill>
                <a:latin typeface="Inter"/>
              </a:rPr>
              <a:t>MOAT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5166360"/>
            <a:ext cx="3200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1A1A1"/>
                </a:solidFill>
                <a:latin typeface="Inter"/>
              </a:rPr>
              <a:t>Thai integrations + workflow library + LMS distribution.</a:t>
            </a:r>
          </a:p>
          <a:p>
            <a:pPr algn="l"/>
            <a:r>
              <a:rPr sz="1100" b="0">
                <a:solidFill>
                  <a:srgbClr val="A1A1A1"/>
                </a:solidFill>
                <a:latin typeface="Inter"/>
              </a:rPr>
              <a:t>Model-provider-proof: smarter models = better product.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17171"/>
                </a:solidFill>
                <a:latin typeface="Inter"/>
              </a:rPr>
              <a:t>Antiparallel Flow  ·  Strategy Deck  ·  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17171"/>
                </a:solidFill>
                <a:latin typeface="Inter"/>
              </a:rPr>
              <a:t>03 / 38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4757"/>
                </a:solidFill>
                <a:latin typeface="Inter"/>
              </a:rPr>
              <a:t>SECTION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>
                <a:solidFill>
                  <a:srgbClr val="FAFAFA"/>
                </a:solidFill>
                <a:latin typeface="Inter"/>
              </a:rPr>
              <a:t>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A1A1A1"/>
                </a:solidFill>
                <a:latin typeface="IBM Plex Sans Thai"/>
              </a:rPr>
              <a:t>ทำไมเราถึงเลือกทำเรื่องนี้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17171"/>
                </a:solidFill>
                <a:latin typeface="Inter"/>
              </a:rPr>
              <a:t>Antiparallel Flow  ·  Strategy Deck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17171"/>
                </a:solidFill>
                <a:latin typeface="Inter"/>
              </a:rPr>
              <a:t>04 / 38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8463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4757"/>
                </a:solidFill>
                <a:latin typeface="Inter"/>
              </a:rP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AFAFA"/>
                </a:solidFill>
                <a:latin typeface="Inter"/>
              </a:rPr>
              <a:t>ทำไม AI training ในองค์กรไทยถึงล้มเหลว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64240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FAFAFA"/>
                </a:solidFill>
                <a:latin typeface="IBM Plex Sans Thai"/>
              </a:rPr>
              <a:t>"พนักงานเรียน AI จบแล้ว 100 คน</a:t>
            </a:r>
          </a:p>
          <a:p>
            <a:pPr algn="l"/>
            <a:r>
              <a:rPr sz="4000" b="1">
                <a:solidFill>
                  <a:srgbClr val="FAFAFA"/>
                </a:solidFill>
                <a:latin typeface="IBM Plex Sans Thai"/>
              </a:rPr>
              <a:t>แต่ใช้จริงในงานประจำแค่ 8 คน"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06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1A1A1"/>
                </a:solidFill>
                <a:latin typeface="IBM Plex Sans Thai"/>
              </a:rPr>
              <a:t>— ผลสำรวจ Antiparallel Customer Success, Q1 2026 (n=12 บริษัท)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937760"/>
            <a:ext cx="11064240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120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00FFBA"/>
                </a:solidFill>
                <a:latin typeface="IBM Plex Sans Thai"/>
              </a:rPr>
              <a:t>ไม่ใช่เพราะคนไม่เก่ง — เพราะระบบในบริษัทไม่รองรับ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17171"/>
                </a:solidFill>
                <a:latin typeface="Inter"/>
              </a:rPr>
              <a:t>Antiparallel Flow  ·  Strategy Deck  ·  Confidential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17171"/>
                </a:solidFill>
                <a:latin typeface="Inter"/>
              </a:rPr>
              <a:t>05 / 38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8463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4757"/>
                </a:solidFill>
                <a:latin typeface="Inter"/>
              </a:rP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AFAFA"/>
                </a:solidFill>
                <a:latin typeface="Inter"/>
              </a:rPr>
              <a:t>3 จุดที่ AI ในองค์กรไทยพัง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64240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3657600" cy="36576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3657600" cy="73152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42316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4757"/>
                </a:solidFill>
                <a:latin typeface="Inter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8892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AFAFA"/>
                </a:solidFill>
                <a:latin typeface="IBM Plex Sans Thai"/>
              </a:rPr>
              <a:t>Tools ไม่เชื่อมระบบจริง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49040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1A1A1"/>
                </a:solidFill>
                <a:latin typeface="IBM Plex Sans Thai"/>
              </a:rPr>
              <a:t>ChatGPT/Claude ไม่รู้จัก Line OA, FlowAccount, PromptPay</a:t>
            </a:r>
          </a:p>
          <a:p>
            <a:pPr algn="l"/>
            <a:r>
              <a:rPr sz="1200" b="0">
                <a:solidFill>
                  <a:srgbClr val="A1A1A1"/>
                </a:solidFill>
                <a:latin typeface="IBM Plex Sans Thai"/>
              </a:rPr>
              <a:t>พนักงานต้องคัดลอกข้อมูลด้วยมือ ทุกครั้ง ทุกวัน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1206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FFBA"/>
                </a:solidFill>
                <a:latin typeface="IBM Plex Sans Thai"/>
              </a:rPr>
              <a:t>→ AI กลายเป็น toy ไม่ใช่ tool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2103120"/>
            <a:ext cx="3657600" cy="36576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2103120"/>
            <a:ext cx="3657600" cy="73152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242316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4757"/>
                </a:solidFill>
                <a:latin typeface="Inter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78892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AFAFA"/>
                </a:solidFill>
                <a:latin typeface="IBM Plex Sans Thai"/>
              </a:rPr>
              <a:t>ความรู้ห้องเรียน ≠ ทักษะหน้างาน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749040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1A1A1"/>
                </a:solidFill>
                <a:latin typeface="IBM Plex Sans Thai"/>
              </a:rPr>
              <a:t>เรียน prompt engineering สวยงาม แต่ทำงานจริงต้องเชื่อม</a:t>
            </a:r>
          </a:p>
          <a:p>
            <a:pPr algn="l"/>
            <a:r>
              <a:rPr sz="1200" b="0">
                <a:solidFill>
                  <a:srgbClr val="A1A1A1"/>
                </a:solidFill>
                <a:latin typeface="IBM Plex Sans Thai"/>
              </a:rPr>
              <a:t>5 ระบบ + ส่ง notification + เก็บ audit log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51206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FFBA"/>
                </a:solidFill>
                <a:latin typeface="IBM Plex Sans Thai"/>
              </a:rPr>
              <a:t>→ Gap ระหว่าง 'รู้' กับ 'ทำได้' กว้างมาก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2103120"/>
            <a:ext cx="3657600" cy="36576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2103120"/>
            <a:ext cx="3657600" cy="73152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242316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4757"/>
                </a:solidFill>
                <a:latin typeface="Inter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78892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AFAFA"/>
                </a:solidFill>
                <a:latin typeface="IBM Plex Sans Thai"/>
              </a:rPr>
              <a:t>ไม่มี ownership ระดับองค์กร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749040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1A1A1"/>
                </a:solidFill>
                <a:latin typeface="IBM Plex Sans Thai"/>
              </a:rPr>
              <a:t>ใครเป็นเจ้าของ workflow? ใครดูแลเมื่อพัง?</a:t>
            </a:r>
          </a:p>
          <a:p>
            <a:pPr algn="l"/>
            <a:r>
              <a:rPr sz="1200" b="0">
                <a:solidFill>
                  <a:srgbClr val="A1A1A1"/>
                </a:solidFill>
                <a:latin typeface="IBM Plex Sans Thai"/>
              </a:rPr>
              <a:t>ใครรับผิดถ้า AI ตอบลูกค้าผิด?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51206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FFBA"/>
                </a:solidFill>
                <a:latin typeface="IBM Plex Sans Thai"/>
              </a:rPr>
              <a:t>→ ไม่มีใครกล้า deploy ของจริง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17171"/>
                </a:solidFill>
                <a:latin typeface="Inter"/>
              </a:rPr>
              <a:t>Antiparallel Flow  ·  Strategy Deck  ·  Confidential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17171"/>
                </a:solidFill>
                <a:latin typeface="Inter"/>
              </a:rPr>
              <a:t>06 / 38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8463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4757"/>
                </a:solidFill>
                <a:latin typeface="Inter"/>
              </a:rP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AFAFA"/>
                </a:solidFill>
                <a:latin typeface="Inter"/>
              </a:rPr>
              <a:t>ต้นทุนที่มองไม่เห็นของ 'AI training ที่ไม่ใช้ต่อ'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64240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A1A1A1"/>
                </a:solidFill>
                <a:latin typeface="IBM Plex Sans Thai"/>
              </a:rPr>
              <a:t>บริษัทขนาด 200 คน ลงทุน AI ต่อปี: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51760"/>
            <a:ext cx="11064240" cy="5029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76148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AFAFA"/>
                </a:solidFill>
                <a:latin typeface="IBM Plex Sans Thai"/>
              </a:rPr>
              <a:t>ค่าเทรน AI ทั้งบริษัท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761488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>
                <a:solidFill>
                  <a:srgbClr val="FAFAFA"/>
                </a:solidFill>
                <a:latin typeface="Inter"/>
              </a:rPr>
              <a:t>฿800,000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276148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1A1A1"/>
                </a:solidFill>
                <a:latin typeface="IBM Plex Sans Thai"/>
              </a:rPr>
              <a:t>Antiparallel หรือคู่แข่ง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218688"/>
            <a:ext cx="11064240" cy="5029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328416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AFAFA"/>
                </a:solidFill>
                <a:latin typeface="IBM Plex Sans Thai"/>
              </a:rPr>
              <a:t>ChatGPT Team / Claude Teams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3328416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>
                <a:solidFill>
                  <a:srgbClr val="FAFAFA"/>
                </a:solidFill>
                <a:latin typeface="Inter"/>
              </a:rPr>
              <a:t>฿720,000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3328416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1A1A1"/>
                </a:solidFill>
                <a:latin typeface="IBM Plex Sans Thai"/>
              </a:rPr>
              <a:t>$30 × 200 คน × 12 เดือน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785616"/>
            <a:ext cx="11064240" cy="5029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895344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AFAFA"/>
                </a:solidFill>
                <a:latin typeface="IBM Plex Sans Thai"/>
              </a:rPr>
              <a:t>เวลาที่เสียจากการ copy-paste มือ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895344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>
                <a:solidFill>
                  <a:srgbClr val="FAFAFA"/>
                </a:solidFill>
                <a:latin typeface="Inter"/>
              </a:rPr>
              <a:t>฿2,400,000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895344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1A1A1"/>
                </a:solidFill>
                <a:latin typeface="IBM Plex Sans Thai"/>
              </a:rPr>
              <a:t>1 ชม./คน/วัน × 200 คน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352544"/>
            <a:ext cx="11064240" cy="5029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46227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AFAFA"/>
                </a:solidFill>
                <a:latin typeface="IBM Plex Sans Thai"/>
              </a:rPr>
              <a:t>ความผิดพลาดจากการ key มือ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446227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>
                <a:solidFill>
                  <a:srgbClr val="FAFAFA"/>
                </a:solidFill>
                <a:latin typeface="Inter"/>
              </a:rPr>
              <a:t>฿500,000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446227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1A1A1"/>
                </a:solidFill>
                <a:latin typeface="IBM Plex Sans Thai"/>
              </a:rPr>
              <a:t>ประมาณการ rework + customer churn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919472"/>
            <a:ext cx="11064240" cy="50292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0292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AFAFA"/>
                </a:solidFill>
                <a:latin typeface="IBM Plex Sans Thai"/>
              </a:rPr>
              <a:t>รวมต้นทุน AI ต่อปี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50292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>
                <a:solidFill>
                  <a:srgbClr val="FF4757"/>
                </a:solidFill>
                <a:latin typeface="Inter"/>
              </a:rPr>
              <a:t>฿4,420,000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502920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1A1A1"/>
                </a:solidFill>
                <a:latin typeface="IBM Plex Sans Thai"/>
              </a:rPr>
              <a:t>ไม่รวมโอกาสที่หาย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0FFBA"/>
                </a:solidFill>
                <a:latin typeface="IBM Plex Sans Thai"/>
              </a:rPr>
              <a:t>Flow ตัดต้นทุน copy-paste + รวมค่า subscription = ROI &gt; 5× ในปีแรก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17171"/>
                </a:solidFill>
                <a:latin typeface="Inter"/>
              </a:rPr>
              <a:t>Antiparallel Flow  ·  Strategy Deck  ·  Confidential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17171"/>
                </a:solidFill>
                <a:latin typeface="Inter"/>
              </a:rPr>
              <a:t>07 / 38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00FF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8463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FFBA"/>
                </a:solidFill>
                <a:latin typeface="Inter"/>
              </a:rPr>
              <a:t>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AFAFA"/>
                </a:solidFill>
                <a:latin typeface="Inter"/>
              </a:rPr>
              <a:t>3 คลื่นที่บรรจบกันใน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64240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73152" cy="1280160"/>
          </a:xfrm>
          <a:prstGeom prst="rect">
            <a:avLst/>
          </a:prstGeom>
          <a:solidFill>
            <a:srgbClr val="00FF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031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AFAFA"/>
                </a:solidFill>
                <a:latin typeface="IBM Plex Sans Thai"/>
              </a:rPr>
              <a:t>AI Literacy ถึงจุดอิ่มตัว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517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1A1A1"/>
                </a:solidFill>
                <a:latin typeface="IBM Plex Sans Thai"/>
              </a:rPr>
              <a:t>ปี 2024-2025 บริษัทไทย Top 500 ลงทุนเทรน AI ทั่วประเทศ</a:t>
            </a:r>
          </a:p>
          <a:p>
            <a:pPr algn="l"/>
            <a:r>
              <a:rPr sz="1300" b="0">
                <a:solidFill>
                  <a:srgbClr val="A1A1A1"/>
                </a:solidFill>
                <a:latin typeface="IBM Plex Sans Thai"/>
              </a:rPr>
              <a:t>ตอนนี้ผู้บริหารถามแล้วว่า 'แล้วใช้จริงยังไง?'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611880"/>
            <a:ext cx="73152" cy="1280160"/>
          </a:xfrm>
          <a:prstGeom prst="rect">
            <a:avLst/>
          </a:prstGeom>
          <a:solidFill>
            <a:srgbClr val="00FF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AFAFA"/>
                </a:solidFill>
                <a:latin typeface="IBM Plex Sans Thai"/>
              </a:rPr>
              <a:t>Model Cost ลด 90% ใน 18 เดือน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16052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1A1A1"/>
                </a:solidFill>
                <a:latin typeface="IBM Plex Sans Thai"/>
              </a:rPr>
              <a:t>GPT-4o-mini, Claude Haiku, Gemini Flash</a:t>
            </a:r>
          </a:p>
          <a:p>
            <a:pPr algn="l"/>
            <a:r>
              <a:rPr sz="1300" b="0">
                <a:solidFill>
                  <a:srgbClr val="A1A1A1"/>
                </a:solidFill>
                <a:latin typeface="IBM Plex Sans Thai"/>
              </a:rPr>
              <a:t>ทำให้ automation ใช้ AI ราคาเข้าถึงได้สำหรับ SME ไทย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120640"/>
            <a:ext cx="73152" cy="1280160"/>
          </a:xfrm>
          <a:prstGeom prst="rect">
            <a:avLst/>
          </a:prstGeom>
          <a:solidFill>
            <a:srgbClr val="00FF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1206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AFAFA"/>
                </a:solidFill>
                <a:latin typeface="IBM Plex Sans Thai"/>
              </a:rPr>
              <a:t>Line API + ระบบไทยเปิดมากขึ้น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6692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1A1A1"/>
                </a:solidFill>
                <a:latin typeface="IBM Plex Sans Thai"/>
              </a:rPr>
              <a:t>FlowAccount, PEAK, K-Cash Connect, SCB API</a:t>
            </a:r>
          </a:p>
          <a:p>
            <a:pPr algn="l"/>
            <a:r>
              <a:rPr sz="1300" b="0">
                <a:solidFill>
                  <a:srgbClr val="A1A1A1"/>
                </a:solidFill>
                <a:latin typeface="IBM Plex Sans Thai"/>
              </a:rPr>
              <a:t>เปิดให้ developer เชื่อมง่ายกว่าเดิมมาก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17171"/>
                </a:solidFill>
                <a:latin typeface="Inter"/>
              </a:rPr>
              <a:t>Antiparallel Flow  ·  Strategy Deck  ·  Confidential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17171"/>
                </a:solidFill>
                <a:latin typeface="Inter"/>
              </a:rPr>
              <a:t>08 / 38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FF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FFBA"/>
                </a:solidFill>
                <a:latin typeface="Inter"/>
              </a:rPr>
              <a:t>SECTION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>
                <a:solidFill>
                  <a:srgbClr val="FAFAFA"/>
                </a:solidFill>
                <a:latin typeface="Inter"/>
              </a:rPr>
              <a:t>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A1A1A1"/>
                </a:solidFill>
                <a:latin typeface="IBM Plex Sans Thai"/>
              </a:rPr>
              <a:t>Antiparallel Flow คืออะไร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17171"/>
                </a:solidFill>
                <a:latin typeface="Inter"/>
              </a:rPr>
              <a:t>Antiparallel Flow  ·  Strategy Deck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17171"/>
                </a:solidFill>
                <a:latin typeface="Inter"/>
              </a:rPr>
              <a:t>09 / 38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00FF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8463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FFBA"/>
                </a:solidFill>
                <a:latin typeface="Inter"/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AFAFA"/>
                </a:solidFill>
                <a:latin typeface="Inter"/>
              </a:rPr>
              <a:t>Antiparallel Flow — AI Workflow Automation for Thai Business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64240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AFAFA"/>
                </a:solidFill>
                <a:latin typeface="IBM Plex Sans Thai"/>
              </a:rPr>
              <a:t>ไม่ใช่ chat — ไม่ใช่ wrapper —</a:t>
            </a:r>
          </a:p>
          <a:p>
            <a:pPr algn="l"/>
            <a:r>
              <a:rPr sz="3200" b="1">
                <a:solidFill>
                  <a:srgbClr val="FAFAFA"/>
                </a:solidFill>
                <a:latin typeface="IBM Plex Sans Thai"/>
              </a:rPr>
              <a:t>คือ background automation ที่ทำงานจริงในระบบไทย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0233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00FFBA"/>
                </a:solidFill>
                <a:latin typeface="IBM Plex Sans Thai"/>
              </a:rPr>
              <a:t>Trigger จากระบบที่ใช้จริง  →  AI ตัดสินใจ  →  ทำงานต่อในระบบเดิม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937760"/>
            <a:ext cx="1106424" cy="41148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010912"/>
            <a:ext cx="9235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00FFBA"/>
                </a:solidFill>
                <a:latin typeface="Inter"/>
              </a:rPr>
              <a:t>Line OA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92224" y="4937760"/>
            <a:ext cx="868680" cy="41148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83664" y="501091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00FFBA"/>
                </a:solidFill>
                <a:latin typeface="Inter"/>
              </a:rPr>
              <a:t>Gmail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98064" y="4937760"/>
            <a:ext cx="1225296" cy="41148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9504" y="5010912"/>
            <a:ext cx="10424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00FFBA"/>
                </a:solidFill>
                <a:latin typeface="Inter"/>
              </a:rPr>
              <a:t>Slip OCR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60520" y="4937760"/>
            <a:ext cx="1581912" cy="41148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51960" y="5010912"/>
            <a:ext cx="1399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00FFBA"/>
                </a:solidFill>
                <a:latin typeface="Inter"/>
              </a:rPr>
              <a:t>FlowAccount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79592" y="4937760"/>
            <a:ext cx="2057400" cy="41148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1032" y="5010912"/>
            <a:ext cx="1874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00FFBA"/>
                </a:solidFill>
                <a:latin typeface="Inter"/>
              </a:rPr>
              <a:t>Google Calendar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74152" y="4937760"/>
            <a:ext cx="868680" cy="41148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65592" y="501091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00FFBA"/>
                </a:solidFill>
                <a:latin typeface="Inter"/>
              </a:rPr>
              <a:t>Slack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79992" y="4937760"/>
            <a:ext cx="1819656" cy="41148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1432" y="5010912"/>
            <a:ext cx="16367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00FFBA"/>
                </a:solidFill>
                <a:latin typeface="Inter"/>
              </a:rPr>
              <a:t>Google Sheets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486400"/>
            <a:ext cx="1344168" cy="41148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559552"/>
            <a:ext cx="11612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00FFBA"/>
                </a:solidFill>
                <a:latin typeface="Inter"/>
              </a:rPr>
              <a:t>PromptPay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29968" y="5486400"/>
            <a:ext cx="749808" cy="41148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21408" y="5559552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00FFBA"/>
                </a:solidFill>
                <a:latin typeface="Inter"/>
              </a:rPr>
              <a:t>PEAK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16936" y="5486400"/>
            <a:ext cx="987552" cy="41148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08376" y="5559552"/>
            <a:ext cx="804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00FFBA"/>
                </a:solidFill>
                <a:latin typeface="Inter"/>
              </a:rPr>
              <a:t>K-Cash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17171"/>
                </a:solidFill>
                <a:latin typeface="Inter"/>
              </a:rPr>
              <a:t>Antiparallel Flow  ·  Strategy Deck  ·  Confidential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17171"/>
                </a:solidFill>
                <a:latin typeface="Inter"/>
              </a:rPr>
              <a:t>10 / 38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00FF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8463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FFBA"/>
                </a:solidFill>
                <a:latin typeface="Inter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AFAFA"/>
                </a:solidFill>
                <a:latin typeface="Inter"/>
              </a:rPr>
              <a:t>Flow = Trigger + AI Decision + 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64240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2606040" cy="32004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194560"/>
            <a:ext cx="2606040" cy="73152"/>
          </a:xfrm>
          <a:prstGeom prst="rect">
            <a:avLst/>
          </a:prstGeom>
          <a:solidFill>
            <a:srgbClr val="00FF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6032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FFBA"/>
                </a:solidFill>
                <a:latin typeface="Inter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AFAFA"/>
                </a:solidFill>
                <a:latin typeface="Inter"/>
              </a:rPr>
              <a:t>TRIGGER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66160"/>
            <a:ext cx="219456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1A1A1"/>
                </a:solidFill>
                <a:latin typeface="IBM Plex Sans Thai"/>
              </a:rPr>
              <a:t>ลูกค้าทัก Line OA</a:t>
            </a:r>
          </a:p>
          <a:p>
            <a:pPr algn="l"/>
            <a:r>
              <a:rPr sz="1200" b="0">
                <a:solidFill>
                  <a:srgbClr val="A1A1A1"/>
                </a:solidFill>
                <a:latin typeface="IBM Plex Sans Thai"/>
              </a:rPr>
              <a:t>ใบเสร็จเข้า email</a:t>
            </a:r>
          </a:p>
          <a:p>
            <a:pPr algn="l"/>
            <a:r>
              <a:rPr sz="1200" b="0">
                <a:solidFill>
                  <a:srgbClr val="A1A1A1"/>
                </a:solidFill>
                <a:latin typeface="IBM Plex Sans Thai"/>
              </a:rPr>
              <a:t>สลิปโอนเข้ามา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2194560"/>
            <a:ext cx="2606040" cy="32004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2194560"/>
            <a:ext cx="2606040" cy="73152"/>
          </a:xfrm>
          <a:prstGeom prst="rect">
            <a:avLst/>
          </a:prstGeom>
          <a:solidFill>
            <a:srgbClr val="00FF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256032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FFBA"/>
                </a:solidFill>
                <a:latin typeface="Inter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92608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AFAFA"/>
                </a:solidFill>
                <a:latin typeface="Inter"/>
              </a:rPr>
              <a:t>AI DECIDE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566160"/>
            <a:ext cx="219456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1A1A1"/>
                </a:solidFill>
                <a:latin typeface="IBM Plex Sans Thai"/>
              </a:rPr>
              <a:t>Claude / GPT / Gemini</a:t>
            </a:r>
          </a:p>
          <a:p>
            <a:pPr algn="l"/>
            <a:r>
              <a:rPr sz="1200" b="0">
                <a:solidFill>
                  <a:srgbClr val="A1A1A1"/>
                </a:solidFill>
                <a:latin typeface="IBM Plex Sans Thai"/>
              </a:rPr>
              <a:t>เข้าใจ context</a:t>
            </a:r>
          </a:p>
          <a:p>
            <a:pPr algn="l"/>
            <a:r>
              <a:rPr sz="1200" b="0">
                <a:solidFill>
                  <a:srgbClr val="A1A1A1"/>
                </a:solidFill>
                <a:latin typeface="IBM Plex Sans Thai"/>
              </a:rPr>
              <a:t>ตัดสินใจ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194560"/>
            <a:ext cx="2606040" cy="32004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2194560"/>
            <a:ext cx="2606040" cy="73152"/>
          </a:xfrm>
          <a:prstGeom prst="rect">
            <a:avLst/>
          </a:prstGeom>
          <a:solidFill>
            <a:srgbClr val="00FF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56032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FFBA"/>
                </a:solidFill>
                <a:latin typeface="Inter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92608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AFAFA"/>
                </a:solidFill>
                <a:latin typeface="Inter"/>
              </a:rPr>
              <a:t>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566160"/>
            <a:ext cx="219456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1A1A1"/>
                </a:solidFill>
                <a:latin typeface="IBM Plex Sans Thai"/>
              </a:rPr>
              <a:t>สร้าง lead ใน CRM</a:t>
            </a:r>
          </a:p>
          <a:p>
            <a:pPr algn="l"/>
            <a:r>
              <a:rPr sz="1200" b="0">
                <a:solidFill>
                  <a:srgbClr val="A1A1A1"/>
                </a:solidFill>
                <a:latin typeface="IBM Plex Sans Thai"/>
              </a:rPr>
              <a:t>update FlowAccount</a:t>
            </a:r>
          </a:p>
          <a:p>
            <a:pPr algn="l"/>
            <a:r>
              <a:rPr sz="1200" b="0">
                <a:solidFill>
                  <a:srgbClr val="A1A1A1"/>
                </a:solidFill>
                <a:latin typeface="IBM Plex Sans Thai"/>
              </a:rPr>
              <a:t>ส่ง Slack alert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52560" y="2194560"/>
            <a:ext cx="2606040" cy="32004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52560" y="2194560"/>
            <a:ext cx="2606040" cy="73152"/>
          </a:xfrm>
          <a:prstGeom prst="rect">
            <a:avLst/>
          </a:prstGeom>
          <a:solidFill>
            <a:srgbClr val="00FF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0" y="256032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FFBA"/>
                </a:solidFill>
                <a:latin typeface="Inter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292608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AFAFA"/>
                </a:solidFill>
                <a:latin typeface="Inter"/>
              </a:rPr>
              <a:t>OBSERVE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3566160"/>
            <a:ext cx="219456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1A1A1"/>
                </a:solidFill>
                <a:latin typeface="IBM Plex Sans Thai"/>
              </a:rPr>
              <a:t>Log + audit</a:t>
            </a:r>
          </a:p>
          <a:p>
            <a:pPr algn="l"/>
            <a:r>
              <a:rPr sz="1200" b="0">
                <a:solidFill>
                  <a:srgbClr val="A1A1A1"/>
                </a:solidFill>
                <a:latin typeface="IBM Plex Sans Thai"/>
              </a:rPr>
              <a:t>ROI dashboard</a:t>
            </a:r>
          </a:p>
          <a:p>
            <a:pPr algn="l"/>
            <a:r>
              <a:rPr sz="1200" b="0">
                <a:solidFill>
                  <a:srgbClr val="A1A1A1"/>
                </a:solidFill>
                <a:latin typeface="IBM Plex Sans Thai"/>
              </a:rPr>
              <a:t>retry on failure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760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717171"/>
                </a:solidFill>
                <a:latin typeface="IBM Plex Sans Thai"/>
              </a:rPr>
              <a:t>Model-agnostic by design  ·  เปลี่ยน model ได้ทุกเมื่อ  ·  ลด lock-in กับ provider เดียว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17171"/>
                </a:solidFill>
                <a:latin typeface="Inter"/>
              </a:rPr>
              <a:t>Antiparallel Flow  ·  Strategy Deck  ·  Confidential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17171"/>
                </a:solidFill>
                <a:latin typeface="Inter"/>
              </a:rPr>
              <a:t>11 / 38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00FF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8463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FFBA"/>
                </a:solidFill>
                <a:latin typeface="Inter"/>
              </a:rPr>
              <a:t>USE CASE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AFAFA"/>
                </a:solidFill>
                <a:latin typeface="Inter"/>
              </a:rPr>
              <a:t>Line OA → CRM → Sales Follow-up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64240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3657600" cy="310896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73152" cy="3108960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4757"/>
                </a:solidFill>
                <a:latin typeface="Inter"/>
              </a:rPr>
              <a:t>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80360"/>
            <a:ext cx="32004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AFAFA"/>
                </a:solidFill>
                <a:latin typeface="IBM Plex Sans Thai"/>
              </a:rPr>
              <a:t>ลูกค้าใหม่ทักมาที่ Line OA ของบริษัท</a:t>
            </a:r>
          </a:p>
          <a:p>
            <a:pPr algn="l"/>
            <a:r>
              <a:rPr sz="1300" b="0">
                <a:solidFill>
                  <a:srgbClr val="FAFAFA"/>
                </a:solidFill>
                <a:latin typeface="IBM Plex Sans Thai"/>
              </a:rPr>
              <a:t>นอกเวลาทำการ / วันหยุด / สอบถามสินค้า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2103120"/>
            <a:ext cx="3657600" cy="310896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2103120"/>
            <a:ext cx="73152" cy="3108960"/>
          </a:xfrm>
          <a:prstGeom prst="rect">
            <a:avLst/>
          </a:prstGeom>
          <a:solidFill>
            <a:srgbClr val="00FF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23774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FFBA"/>
                </a:solidFill>
                <a:latin typeface="Inter"/>
              </a:rPr>
              <a:t>AI DECISION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880360"/>
            <a:ext cx="32004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AFAFA"/>
                </a:solidFill>
                <a:latin typeface="IBM Plex Sans Thai"/>
              </a:rPr>
              <a:t>Claude อ่านข้อความ + ดู product catalog</a:t>
            </a:r>
          </a:p>
          <a:p>
            <a:pPr algn="l"/>
            <a:r>
              <a:rPr sz="1300" b="0">
                <a:solidFill>
                  <a:srgbClr val="FAFAFA"/>
                </a:solidFill>
                <a:latin typeface="IBM Plex Sans Thai"/>
              </a:rPr>
              <a:t>ตอบราคา + เก็บข้อมูลลูกค้า + qualify intent</a:t>
            </a:r>
          </a:p>
          <a:p>
            <a:pPr algn="l"/>
            <a:r>
              <a:rPr sz="1300" b="0">
                <a:solidFill>
                  <a:srgbClr val="FAFAFA"/>
                </a:solidFill>
                <a:latin typeface="IBM Plex Sans Thai"/>
              </a:rPr>
              <a:t>สร้าง lead ใน CRM พร้อม priority score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2103120"/>
            <a:ext cx="3657600" cy="310896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2103120"/>
            <a:ext cx="73152" cy="31089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3774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6B35"/>
                </a:solidFill>
                <a:latin typeface="Inter"/>
              </a:rPr>
              <a:t>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880360"/>
            <a:ext cx="32004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AFAFA"/>
                </a:solidFill>
                <a:latin typeface="IBM Plex Sans Thai"/>
              </a:rPr>
              <a:t>Lead เข้า HubSpot อัตโนมัติ</a:t>
            </a:r>
          </a:p>
          <a:p>
            <a:pPr algn="l"/>
            <a:r>
              <a:rPr sz="1300" b="0">
                <a:solidFill>
                  <a:srgbClr val="FAFAFA"/>
                </a:solidFill>
                <a:latin typeface="IBM Plex Sans Thai"/>
              </a:rPr>
              <a:t>Slack แจ้งเซลส์ที่เกี่ยวข้องทันที</a:t>
            </a:r>
          </a:p>
          <a:p>
            <a:pPr algn="l"/>
            <a:r>
              <a:rPr sz="1300" b="0">
                <a:solidFill>
                  <a:srgbClr val="FAFAFA"/>
                </a:solidFill>
                <a:latin typeface="IBM Plex Sans Thai"/>
              </a:rPr>
              <a:t>นัด follow-up call ใน Google Calendar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577840"/>
            <a:ext cx="11064240" cy="64008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74243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FFBA"/>
                </a:solidFill>
                <a:latin typeface="Inter"/>
              </a:rPr>
              <a:t>ROI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71500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AFAFA"/>
                </a:solidFill>
                <a:latin typeface="IBM Plex Sans Thai"/>
              </a:rPr>
              <a:t>ลด response time จาก 4 ชม. เหลือ 30 วินาที  ·  Lead conversion +35%  ·  เซลส์ทำงาน high-value ไม่ตอบ FAQ ซ้ำ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17171"/>
                </a:solidFill>
                <a:latin typeface="Inter"/>
              </a:rPr>
              <a:t>Antiparallel Flow  ·  Strategy Deck  ·  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17171"/>
                </a:solidFill>
                <a:latin typeface="Inter"/>
              </a:rPr>
              <a:t>12 / 38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00FF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8463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FFBA"/>
                </a:solidFill>
                <a:latin typeface="Inter"/>
              </a:rPr>
              <a:t>USE CASE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AFAFA"/>
                </a:solidFill>
                <a:latin typeface="Inter"/>
              </a:rPr>
              <a:t>ใบเสร็จ → FlowAccount → Monthly Tax Prep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64240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3657600" cy="310896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73152" cy="3108960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4757"/>
                </a:solidFill>
                <a:latin typeface="Inter"/>
              </a:rPr>
              <a:t>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80360"/>
            <a:ext cx="32004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AFAFA"/>
                </a:solidFill>
                <a:latin typeface="IBM Plex Sans Thai"/>
              </a:rPr>
              <a:t>พนักงานส่งใบเสร็จเข้า email ส่วนกลาง</a:t>
            </a:r>
          </a:p>
          <a:p>
            <a:pPr algn="l"/>
            <a:r>
              <a:rPr sz="1300" b="0">
                <a:solidFill>
                  <a:srgbClr val="FAFAFA"/>
                </a:solidFill>
                <a:latin typeface="IBM Plex Sans Thai"/>
              </a:rPr>
              <a:t>หรือถ่ายรูปส่ง Line group บัญชี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2103120"/>
            <a:ext cx="3657600" cy="310896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2103120"/>
            <a:ext cx="73152" cy="3108960"/>
          </a:xfrm>
          <a:prstGeom prst="rect">
            <a:avLst/>
          </a:prstGeom>
          <a:solidFill>
            <a:srgbClr val="00FF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23774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FFBA"/>
                </a:solidFill>
                <a:latin typeface="Inter"/>
              </a:rPr>
              <a:t>AI DECISION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880360"/>
            <a:ext cx="32004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AFAFA"/>
                </a:solidFill>
                <a:latin typeface="IBM Plex Sans Thai"/>
              </a:rPr>
              <a:t>GPT-4o-vision อ่านใบเสร็จไทย-อังกฤษ</a:t>
            </a:r>
          </a:p>
          <a:p>
            <a:pPr algn="l"/>
            <a:r>
              <a:rPr sz="1300" b="0">
                <a:solidFill>
                  <a:srgbClr val="FAFAFA"/>
                </a:solidFill>
                <a:latin typeface="IBM Plex Sans Thai"/>
              </a:rPr>
              <a:t>แยกหมวด (อาหาร, เดินทาง, สำนักงาน)</a:t>
            </a:r>
          </a:p>
          <a:p>
            <a:pPr algn="l"/>
            <a:r>
              <a:rPr sz="1300" b="0">
                <a:solidFill>
                  <a:srgbClr val="FAFAFA"/>
                </a:solidFill>
                <a:latin typeface="IBM Plex Sans Thai"/>
              </a:rPr>
              <a:t>ตรวจสอบ vendor + ภาษีซื้อ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2103120"/>
            <a:ext cx="3657600" cy="310896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2103120"/>
            <a:ext cx="73152" cy="31089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3774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6B35"/>
                </a:solidFill>
                <a:latin typeface="Inter"/>
              </a:rPr>
              <a:t>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880360"/>
            <a:ext cx="32004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AFAFA"/>
                </a:solidFill>
                <a:latin typeface="IBM Plex Sans Thai"/>
              </a:rPr>
              <a:t>Entry เข้า FlowAccount พร้อม category</a:t>
            </a:r>
          </a:p>
          <a:p>
            <a:pPr algn="l"/>
            <a:r>
              <a:rPr sz="1300" b="0">
                <a:solidFill>
                  <a:srgbClr val="FAFAFA"/>
                </a:solidFill>
                <a:latin typeface="IBM Plex Sans Thai"/>
              </a:rPr>
              <a:t>เตือนพนักงานถ้าเอกสารไม่ครบ</a:t>
            </a:r>
          </a:p>
          <a:p>
            <a:pPr algn="l"/>
            <a:r>
              <a:rPr sz="1300" b="0">
                <a:solidFill>
                  <a:srgbClr val="FAFAFA"/>
                </a:solidFill>
                <a:latin typeface="IBM Plex Sans Thai"/>
              </a:rPr>
              <a:t>สรุปยอด + ภาษีซื้อรายเดือนให้ CFO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577840"/>
            <a:ext cx="11064240" cy="64008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74243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FFBA"/>
                </a:solidFill>
                <a:latin typeface="Inter"/>
              </a:rPr>
              <a:t>ROI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71500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AFAFA"/>
                </a:solidFill>
                <a:latin typeface="IBM Plex Sans Thai"/>
              </a:rPr>
              <a:t>ลดเวลาทีมบัญชี 60%  ·  ปิดงบเดือนเร็วขึ้น 8 วัน  ·  ลดภาษีซื้อที่ลืม claim ประมาณ ฿80-150k/ปี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17171"/>
                </a:solidFill>
                <a:latin typeface="Inter"/>
              </a:rPr>
              <a:t>Antiparallel Flow  ·  Strategy Deck  ·  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17171"/>
                </a:solidFill>
                <a:latin typeface="Inter"/>
              </a:rPr>
              <a:t>13 / 38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00FF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8463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FFBA"/>
                </a:solidFill>
                <a:latin typeface="Inter"/>
              </a:rPr>
              <a:t>USE CASE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AFAFA"/>
                </a:solidFill>
                <a:latin typeface="Inter"/>
              </a:rPr>
              <a:t>Resume → AI Screen → Interview Schedule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64240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3657600" cy="310896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73152" cy="3108960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4757"/>
                </a:solidFill>
                <a:latin typeface="Inter"/>
              </a:rPr>
              <a:t>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80360"/>
            <a:ext cx="32004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AFAFA"/>
                </a:solidFill>
                <a:latin typeface="IBM Plex Sans Thai"/>
              </a:rPr>
              <a:t>Resume PDF เข้ามาผ่าน email หรือ JobsDB</a:t>
            </a:r>
          </a:p>
          <a:p>
            <a:pPr algn="l"/>
            <a:r>
              <a:rPr sz="1300" b="0">
                <a:solidFill>
                  <a:srgbClr val="FAFAFA"/>
                </a:solidFill>
                <a:latin typeface="IBM Plex Sans Thai"/>
              </a:rPr>
              <a:t>สำหรับตำแหน่งที่ JD ชัดเจน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2103120"/>
            <a:ext cx="3657600" cy="310896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2103120"/>
            <a:ext cx="73152" cy="3108960"/>
          </a:xfrm>
          <a:prstGeom prst="rect">
            <a:avLst/>
          </a:prstGeom>
          <a:solidFill>
            <a:srgbClr val="00FF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23774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FFBA"/>
                </a:solidFill>
                <a:latin typeface="Inter"/>
              </a:rPr>
              <a:t>AI DECISION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880360"/>
            <a:ext cx="32004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AFAFA"/>
                </a:solidFill>
                <a:latin typeface="IBM Plex Sans Thai"/>
              </a:rPr>
              <a:t>Claude อ่าน resume + เทียบ JD</a:t>
            </a:r>
          </a:p>
          <a:p>
            <a:pPr algn="l"/>
            <a:r>
              <a:rPr sz="1300" b="0">
                <a:solidFill>
                  <a:srgbClr val="FAFAFA"/>
                </a:solidFill>
                <a:latin typeface="IBM Plex Sans Thai"/>
              </a:rPr>
              <a:t>คำนวณ score 0-100 พร้อม reasoning</a:t>
            </a:r>
          </a:p>
          <a:p>
            <a:pPr algn="l"/>
            <a:r>
              <a:rPr sz="1300" b="0">
                <a:solidFill>
                  <a:srgbClr val="FAFAFA"/>
                </a:solidFill>
                <a:latin typeface="IBM Plex Sans Thai"/>
              </a:rPr>
              <a:t>เช็ค red flag (gap, job hopping)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2103120"/>
            <a:ext cx="3657600" cy="310896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2103120"/>
            <a:ext cx="73152" cy="31089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3774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6B35"/>
                </a:solidFill>
                <a:latin typeface="Inter"/>
              </a:rPr>
              <a:t>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880360"/>
            <a:ext cx="32004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AFAFA"/>
                </a:solidFill>
                <a:latin typeface="IBM Plex Sans Thai"/>
              </a:rPr>
              <a:t>Top 10% → auto-email ขอสัมภาษณ์</a:t>
            </a:r>
          </a:p>
          <a:p>
            <a:pPr algn="l"/>
            <a:r>
              <a:rPr sz="1300" b="0">
                <a:solidFill>
                  <a:srgbClr val="FAFAFA"/>
                </a:solidFill>
                <a:latin typeface="IBM Plex Sans Thai"/>
              </a:rPr>
              <a:t>นัดผ่าน Calendar slot ที่ HR ว่าง</a:t>
            </a:r>
          </a:p>
          <a:p>
            <a:pPr algn="l"/>
            <a:r>
              <a:rPr sz="1300" b="0">
                <a:solidFill>
                  <a:srgbClr val="FAFAFA"/>
                </a:solidFill>
                <a:latin typeface="IBM Plex Sans Thai"/>
              </a:rPr>
              <a:t>ส่ง onboarding brief ก่อนสัมภาษณ์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577840"/>
            <a:ext cx="11064240" cy="64008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74243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FFBA"/>
                </a:solidFill>
                <a:latin typeface="Inter"/>
              </a:rPr>
              <a:t>ROI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71500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AFAFA"/>
                </a:solidFill>
                <a:latin typeface="IBM Plex Sans Thai"/>
              </a:rPr>
              <a:t>HR ใช้เวลา screen เหลือ 5 นาที/คน  ·  Time-to-hire ลด 40%  ·  Hiring manager เห็นแต่ candidate ที่ qualify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17171"/>
                </a:solidFill>
                <a:latin typeface="Inter"/>
              </a:rPr>
              <a:t>Antiparallel Flow  ·  Strategy Deck  ·  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17171"/>
                </a:solidFill>
                <a:latin typeface="Inter"/>
              </a:rPr>
              <a:t>14 / 38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FF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FFBA"/>
                </a:solidFill>
                <a:latin typeface="Inter"/>
              </a:rPr>
              <a:t>SECTION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>
                <a:solidFill>
                  <a:srgbClr val="FAFAFA"/>
                </a:solidFill>
                <a:latin typeface="Inter"/>
              </a:rPr>
              <a:t>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A1A1A1"/>
                </a:solidFill>
                <a:latin typeface="IBM Plex Sans Thai"/>
              </a:rPr>
              <a:t>ตลาด + คู่แข่ง + ทำไมเราชนะ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17171"/>
                </a:solidFill>
                <a:latin typeface="Inter"/>
              </a:rPr>
              <a:t>Antiparallel Flow  ·  Strategy Deck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17171"/>
                </a:solidFill>
                <a:latin typeface="Inter"/>
              </a:rPr>
              <a:t>15 / 38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00FF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8463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FFBA"/>
                </a:solidFill>
                <a:latin typeface="Inter"/>
              </a:rPr>
              <a:t>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AFAFA"/>
                </a:solidFill>
                <a:latin typeface="Inter"/>
              </a:rPr>
              <a:t>ตลาดที่เข้าถึงได้จริงในไทย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64240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11064240" cy="128016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137160" cy="128016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AFAFA"/>
                </a:solidFill>
                <a:latin typeface="Inter"/>
              </a:rPr>
              <a:t>TAM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974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1A1A1"/>
                </a:solidFill>
                <a:latin typeface="Inter"/>
              </a:rPr>
              <a:t>Total Addressable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33172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AFAFA"/>
                </a:solidFill>
                <a:latin typeface="Inter"/>
              </a:rPr>
              <a:t>฿18,000M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242316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1A1A1"/>
                </a:solidFill>
                <a:latin typeface="IBM Plex Sans Thai"/>
              </a:rPr>
              <a:t>บริษัทไทย 750k ราย × AI/automation spend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429000"/>
            <a:ext cx="11064240" cy="128016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429000"/>
            <a:ext cx="137160" cy="128016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6576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AFAFA"/>
                </a:solidFill>
                <a:latin typeface="Inter"/>
              </a:rPr>
              <a:t>SAM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1148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1A1A1"/>
                </a:solidFill>
                <a:latin typeface="Inter"/>
              </a:rPr>
              <a:t>Serviceable Addressable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374904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AFAFA"/>
                </a:solidFill>
                <a:latin typeface="Inter"/>
              </a:rPr>
              <a:t>฿3,200M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384048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1A1A1"/>
                </a:solidFill>
                <a:latin typeface="IBM Plex Sans Thai"/>
              </a:rPr>
              <a:t>บริษัทไทย 10+ คน ที่ใช้ Line OA + ระบบบัญชี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846320"/>
            <a:ext cx="11064240" cy="128016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846320"/>
            <a:ext cx="137160" cy="1280160"/>
          </a:xfrm>
          <a:prstGeom prst="rect">
            <a:avLst/>
          </a:prstGeom>
          <a:solidFill>
            <a:srgbClr val="00FF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0749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0FFBA"/>
                </a:solidFill>
                <a:latin typeface="Inter"/>
              </a:rPr>
              <a:t>SOM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5321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1A1A1"/>
                </a:solidFill>
                <a:latin typeface="Inter"/>
              </a:rPr>
              <a:t>Serviceable Obtainable</a:t>
            </a:r>
          </a:p>
          <a:p>
            <a:pPr algn="l"/>
            <a:r>
              <a:rPr sz="1100" b="0">
                <a:solidFill>
                  <a:srgbClr val="A1A1A1"/>
                </a:solidFill>
                <a:latin typeface="Inter"/>
              </a:rPr>
              <a:t>(3 ปี)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516636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0FFBA"/>
                </a:solidFill>
                <a:latin typeface="Inter"/>
              </a:rPr>
              <a:t>฿420M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525780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1A1A1"/>
                </a:solidFill>
                <a:latin typeface="IBM Plex Sans Thai"/>
              </a:rPr>
              <a:t>1,000 ลูกค้า × ARR เฉลี่ย ฿420k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17171"/>
                </a:solidFill>
                <a:latin typeface="Inter"/>
              </a:rPr>
              <a:t>Antiparallel Flow  ·  Strategy Deck  ·  Confidential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17171"/>
                </a:solidFill>
                <a:latin typeface="Inter"/>
              </a:rPr>
              <a:t>16 / 38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00FF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8463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FFBA"/>
                </a:solidFill>
                <a:latin typeface="Inter"/>
              </a:rPr>
              <a:t>COMPETITION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AFAFA"/>
                </a:solidFill>
                <a:latin typeface="Inter"/>
              </a:rPr>
              <a:t>ทำไมเรา beat ของที่มีอยู่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64240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3931920" cy="50292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121408"/>
            <a:ext cx="3749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AFAFA"/>
                </a:solidFill>
                <a:latin typeface="Inter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2011680"/>
            <a:ext cx="1691640" cy="50292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121408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AFAFA"/>
                </a:solidFill>
                <a:latin typeface="Inter"/>
              </a:rPr>
              <a:t>ChatGPT Team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2011680"/>
            <a:ext cx="1691640" cy="50292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121408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AFAFA"/>
                </a:solidFill>
                <a:latin typeface="Inter"/>
              </a:rPr>
              <a:t>Zapier / Make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2011680"/>
            <a:ext cx="1691640" cy="50292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0" y="2121408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AFAFA"/>
                </a:solidFill>
                <a:latin typeface="Inter"/>
              </a:rPr>
              <a:t>Glean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55480" y="2011680"/>
            <a:ext cx="2057400" cy="502920"/>
          </a:xfrm>
          <a:prstGeom prst="rect">
            <a:avLst/>
          </a:prstGeom>
          <a:solidFill>
            <a:srgbClr val="00FF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0" y="2121408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A0A0A"/>
                </a:solidFill>
                <a:latin typeface="Inter"/>
              </a:rPr>
              <a:t>Antiparallel Flow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560320"/>
            <a:ext cx="3931920" cy="5029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679192"/>
            <a:ext cx="3749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AFAFA"/>
                </a:solidFill>
                <a:latin typeface="IBM Plex Sans Thai"/>
              </a:rPr>
              <a:t>Thai integrations (Line OA, FlowAccount)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2560320"/>
            <a:ext cx="1691640" cy="5029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2679192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FF4757"/>
                </a:solidFill>
                <a:latin typeface="IBM Plex Sans Thai"/>
              </a:rPr>
              <a:t>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2560320"/>
            <a:ext cx="1691640" cy="5029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679192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FAFAFA"/>
                </a:solidFill>
                <a:latin typeface="IBM Plex Sans Thai"/>
              </a:rPr>
              <a:t>บางส่วน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63840" y="2560320"/>
            <a:ext cx="1691640" cy="5029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1000" y="2679192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FF4757"/>
                </a:solidFill>
                <a:latin typeface="IBM Plex Sans Thai"/>
              </a:rPr>
              <a:t>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55480" y="2560320"/>
            <a:ext cx="2057400" cy="50292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92640" y="2679192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0FFBA"/>
                </a:solidFill>
                <a:latin typeface="IBM Plex Sans Thai"/>
              </a:rPr>
              <a:t>✓ ครบ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108960"/>
            <a:ext cx="3931920" cy="5029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3227832"/>
            <a:ext cx="3749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AFAFA"/>
                </a:solidFill>
                <a:latin typeface="IBM Plex Sans Thai"/>
              </a:rPr>
              <a:t>ภาษาไทย + code-switching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80560" y="3108960"/>
            <a:ext cx="1691640" cy="5029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17720" y="3227832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FAFAFA"/>
                </a:solidFill>
                <a:latin typeface="IBM Plex Sans Thai"/>
              </a:rPr>
              <a:t>ปานกลาง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3108960"/>
            <a:ext cx="1691640" cy="5029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227832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FF4757"/>
                </a:solidFill>
                <a:latin typeface="IBM Plex Sans Thai"/>
              </a:rPr>
              <a:t>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63840" y="3108960"/>
            <a:ext cx="1691640" cy="5029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01000" y="3227832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FAFAFA"/>
                </a:solidFill>
                <a:latin typeface="IBM Plex Sans Thai"/>
              </a:rPr>
              <a:t>อ่อน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555480" y="3108960"/>
            <a:ext cx="2057400" cy="50292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92640" y="3227832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0FFBA"/>
                </a:solidFill>
                <a:latin typeface="IBM Plex Sans Thai"/>
              </a:rPr>
              <a:t>✓ Native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3657600"/>
            <a:ext cx="3931920" cy="5029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3776472"/>
            <a:ext cx="3749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AFAFA"/>
                </a:solidFill>
                <a:latin typeface="IBM Plex Sans Thai"/>
              </a:rPr>
              <a:t>Audit trail สำหรับสรรพากร/PDPA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80560" y="3657600"/>
            <a:ext cx="1691640" cy="5029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17720" y="3776472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FF4757"/>
                </a:solidFill>
                <a:latin typeface="IBM Plex Sans Thai"/>
              </a:rPr>
              <a:t>—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72200" y="3657600"/>
            <a:ext cx="1691640" cy="5029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9360" y="3776472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FF4757"/>
                </a:solidFill>
                <a:latin typeface="IBM Plex Sans Thai"/>
              </a:rPr>
              <a:t>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863840" y="3657600"/>
            <a:ext cx="1691640" cy="5029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01000" y="3776472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FAFAFA"/>
                </a:solidFill>
                <a:latin typeface="IBM Plex Sans Thai"/>
              </a:rPr>
              <a:t>ปานกลาง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555480" y="3657600"/>
            <a:ext cx="2057400" cy="50292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92640" y="3776472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0FFBA"/>
                </a:solidFill>
                <a:latin typeface="IBM Plex Sans Thai"/>
              </a:rPr>
              <a:t>✓ Built-in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4206240"/>
            <a:ext cx="3931920" cy="5029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5800" y="4325112"/>
            <a:ext cx="3749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AFAFA"/>
                </a:solidFill>
                <a:latin typeface="IBM Plex Sans Thai"/>
              </a:rPr>
              <a:t>Done-for-you setup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480560" y="4206240"/>
            <a:ext cx="1691640" cy="5029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617720" y="4325112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FF4757"/>
                </a:solidFill>
                <a:latin typeface="IBM Plex Sans Thai"/>
              </a:rPr>
              <a:t>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72200" y="4206240"/>
            <a:ext cx="1691640" cy="5029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09360" y="4325112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FF4757"/>
                </a:solidFill>
                <a:latin typeface="IBM Plex Sans Thai"/>
              </a:rPr>
              <a:t>—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63840" y="4206240"/>
            <a:ext cx="1691640" cy="5029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01000" y="4325112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FF4757"/>
                </a:solidFill>
                <a:latin typeface="IBM Plex Sans Thai"/>
              </a:rPr>
              <a:t>—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555480" y="4206240"/>
            <a:ext cx="2057400" cy="50292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92640" y="4325112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0FFBA"/>
                </a:solidFill>
                <a:latin typeface="IBM Plex Sans Thai"/>
              </a:rPr>
              <a:t>✓ Yes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8640" y="4754880"/>
            <a:ext cx="3931920" cy="5029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85800" y="4873752"/>
            <a:ext cx="3749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AFAFA"/>
                </a:solidFill>
                <a:latin typeface="IBM Plex Sans Thai"/>
              </a:rPr>
              <a:t>ผูกกับ AI training program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480560" y="4754880"/>
            <a:ext cx="1691640" cy="5029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617720" y="4873752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FF4757"/>
                </a:solidFill>
                <a:latin typeface="IBM Plex Sans Thai"/>
              </a:rPr>
              <a:t>—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172200" y="4754880"/>
            <a:ext cx="1691640" cy="5029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09360" y="4873752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FF4757"/>
                </a:solidFill>
                <a:latin typeface="IBM Plex Sans Thai"/>
              </a:rPr>
              <a:t>—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863840" y="4754880"/>
            <a:ext cx="1691640" cy="5029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001000" y="4873752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FF4757"/>
                </a:solidFill>
                <a:latin typeface="IBM Plex Sans Thai"/>
              </a:rPr>
              <a:t>—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55480" y="4754880"/>
            <a:ext cx="2057400" cy="50292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692640" y="4873752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0FFBA"/>
                </a:solidFill>
                <a:latin typeface="IBM Plex Sans Thai"/>
              </a:rPr>
              <a:t>✓ LMS-linked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8640" y="5303520"/>
            <a:ext cx="3931920" cy="5029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85800" y="5422392"/>
            <a:ext cx="3749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AFAFA"/>
                </a:solidFill>
                <a:latin typeface="IBM Plex Sans Thai"/>
              </a:rPr>
              <a:t>ราคาเข้าถึงได้ SME ไทย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480560" y="5303520"/>
            <a:ext cx="1691640" cy="5029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617720" y="5422392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FAFAFA"/>
                </a:solidFill>
                <a:latin typeface="IBM Plex Sans Thai"/>
              </a:rPr>
              <a:t>ปานกลาง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172200" y="5303520"/>
            <a:ext cx="1691640" cy="5029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309360" y="5422392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FAFAFA"/>
                </a:solidFill>
                <a:latin typeface="IBM Plex Sans Thai"/>
              </a:rPr>
              <a:t>ปานกลาง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863840" y="5303520"/>
            <a:ext cx="1691640" cy="5029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001000" y="5422392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FAFAFA"/>
                </a:solidFill>
                <a:latin typeface="IBM Plex Sans Thai"/>
              </a:rPr>
              <a:t>แพง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555480" y="5303520"/>
            <a:ext cx="2057400" cy="50292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692640" y="5422392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0FFBA"/>
                </a:solidFill>
                <a:latin typeface="IBM Plex Sans Thai"/>
              </a:rPr>
              <a:t>✓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17171"/>
                </a:solidFill>
                <a:latin typeface="Inter"/>
              </a:rPr>
              <a:t>Antiparallel Flow  ·  Strategy Deck  ·  Confidential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17171"/>
                </a:solidFill>
                <a:latin typeface="Inter"/>
              </a:rPr>
              <a:t>17 / 38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00FF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8463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FFBA"/>
                </a:solidFill>
                <a:latin typeface="Inter"/>
              </a:rPr>
              <a:t>MOAT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AFAFA"/>
                </a:solidFill>
                <a:latin typeface="Inter"/>
              </a:rPr>
              <a:t>4 ชั้นป้องกันที่สะสมยิ่งใช้ยิ่งแน่น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64240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5486400" cy="18288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73152" cy="1828800"/>
          </a:xfrm>
          <a:prstGeom prst="rect">
            <a:avLst/>
          </a:prstGeom>
          <a:solidFill>
            <a:srgbClr val="00FF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FFBA"/>
                </a:solidFill>
                <a:latin typeface="Inter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517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AFAFA"/>
                </a:solidFill>
                <a:latin typeface="IBM Plex Sans Thai"/>
              </a:rPr>
              <a:t>Thai Integration Library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10896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1A1A1"/>
                </a:solidFill>
                <a:latin typeface="IBM Plex Sans Thai"/>
              </a:rPr>
              <a:t>แต่ละ integration ใช้เวลา build 2-4 สัปดาห์ — ปีแรกเรามี 25 ตัว</a:t>
            </a:r>
          </a:p>
          <a:p>
            <a:pPr algn="l"/>
            <a:r>
              <a:rPr sz="1100" b="0">
                <a:solidFill>
                  <a:srgbClr val="A1A1A1"/>
                </a:solidFill>
                <a:latin typeface="IBM Plex Sans Thai"/>
              </a:rPr>
              <a:t>คู่แข่งใหม่ต้องใช้เวลา 12-18 เดือนเพื่อตาม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2011680"/>
            <a:ext cx="5486400" cy="18288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2011680"/>
            <a:ext cx="73152" cy="1828800"/>
          </a:xfrm>
          <a:prstGeom prst="rect">
            <a:avLst/>
          </a:prstGeom>
          <a:solidFill>
            <a:srgbClr val="00FF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28600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FFBA"/>
                </a:solidFill>
                <a:latin typeface="Inter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6517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AFAFA"/>
                </a:solidFill>
                <a:latin typeface="IBM Plex Sans Thai"/>
              </a:rPr>
              <a:t>Workflow Template Library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10896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1A1A1"/>
                </a:solidFill>
                <a:latin typeface="IBM Plex Sans Thai"/>
              </a:rPr>
              <a:t>ทุก case study = template ใหม่ — ยิ่งขายยิ่งมี library ใหญ่</a:t>
            </a:r>
          </a:p>
          <a:p>
            <a:pPr algn="l"/>
            <a:r>
              <a:rPr sz="1100" b="0">
                <a:solidFill>
                  <a:srgbClr val="A1A1A1"/>
                </a:solidFill>
                <a:latin typeface="IBM Plex Sans Thai"/>
              </a:rPr>
              <a:t>ลูกค้าใหม่ deploy ใน 2 สัปดาห์แทน 2 เดือน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977640"/>
            <a:ext cx="5486400" cy="18288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977640"/>
            <a:ext cx="73152" cy="1828800"/>
          </a:xfrm>
          <a:prstGeom prst="rect">
            <a:avLst/>
          </a:prstGeom>
          <a:solidFill>
            <a:srgbClr val="00FF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25196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FFBA"/>
                </a:solidFill>
                <a:latin typeface="Inter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6177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AFAFA"/>
                </a:solidFill>
                <a:latin typeface="IBM Plex Sans Thai"/>
              </a:rPr>
              <a:t>LMS Distribution Channel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07492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1A1A1"/>
                </a:solidFill>
                <a:latin typeface="IBM Plex Sans Thai"/>
              </a:rPr>
              <a:t>Antiparallel LMS มีลูกค้า corporate active = warm pipeline</a:t>
            </a:r>
          </a:p>
          <a:p>
            <a:pPr algn="l"/>
            <a:r>
              <a:rPr sz="1100" b="0">
                <a:solidFill>
                  <a:srgbClr val="A1A1A1"/>
                </a:solidFill>
                <a:latin typeface="IBM Plex Sans Thai"/>
              </a:rPr>
              <a:t>คู่แข่งต้อง cold outreach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3977640"/>
            <a:ext cx="5486400" cy="18288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3977640"/>
            <a:ext cx="73152" cy="1828800"/>
          </a:xfrm>
          <a:prstGeom prst="rect">
            <a:avLst/>
          </a:prstGeom>
          <a:solidFill>
            <a:srgbClr val="00FF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425196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FFBA"/>
                </a:solidFill>
                <a:latin typeface="Inter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6177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AFAFA"/>
                </a:solidFill>
                <a:latin typeface="IBM Plex Sans Thai"/>
              </a:rPr>
              <a:t>Customer Data + Workflow Memory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507492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1A1A1"/>
                </a:solidFill>
                <a:latin typeface="IBM Plex Sans Thai"/>
              </a:rPr>
              <a:t>ยิ่งใช้นาน — workflow ผูกกับ business process ขององค์กร</a:t>
            </a:r>
          </a:p>
          <a:p>
            <a:pPr algn="l"/>
            <a:r>
              <a:rPr sz="1100" b="0">
                <a:solidFill>
                  <a:srgbClr val="A1A1A1"/>
                </a:solidFill>
                <a:latin typeface="IBM Plex Sans Thai"/>
              </a:rPr>
              <a:t>ย้ายออก = พัง ไม่ใช่แค่ไม่สะดวก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17171"/>
                </a:solidFill>
                <a:latin typeface="Inter"/>
              </a:rPr>
              <a:t>Antiparallel Flow  ·  Strategy Deck  ·  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17171"/>
                </a:solidFill>
                <a:latin typeface="Inter"/>
              </a:rPr>
              <a:t>18 / 38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00FF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8463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FFBA"/>
                </a:solidFill>
                <a:latin typeface="Inter"/>
              </a:rPr>
              <a:t>WHY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AFAFA"/>
                </a:solidFill>
                <a:latin typeface="Inter"/>
              </a:rPr>
              <a:t>ทำไม Antiparallel ทำได้ ทำไมคู่แข่งทำไม่ได้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64240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5486400" cy="18288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73152" cy="1828800"/>
          </a:xfrm>
          <a:prstGeom prst="rect">
            <a:avLst/>
          </a:prstGeom>
          <a:solidFill>
            <a:srgbClr val="00FF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AFAFA"/>
                </a:solidFill>
                <a:latin typeface="IBM Plex Sans Thai"/>
              </a:rPr>
              <a:t>Distribution พร้อมใช้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880360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1A1A1"/>
                </a:solidFill>
                <a:latin typeface="IBM Plex Sans Thai"/>
              </a:rPr>
              <a:t>LMS มีลูกค้า corporate active — ไม่ต้อง cold start</a:t>
            </a:r>
          </a:p>
          <a:p>
            <a:pPr algn="l"/>
            <a:r>
              <a:rPr sz="1200" b="0">
                <a:solidFill>
                  <a:srgbClr val="A1A1A1"/>
                </a:solidFill>
                <a:latin typeface="IBM Plex Sans Thai"/>
              </a:rPr>
              <a:t>คู่แข่งใหม่ต้องสร้าง trust กับ corporate ไทยจาก 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2011680"/>
            <a:ext cx="5486400" cy="18288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2011680"/>
            <a:ext cx="73152" cy="1828800"/>
          </a:xfrm>
          <a:prstGeom prst="rect">
            <a:avLst/>
          </a:prstGeom>
          <a:solidFill>
            <a:srgbClr val="00FF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2860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AFAFA"/>
                </a:solidFill>
                <a:latin typeface="IBM Plex Sans Thai"/>
              </a:rPr>
              <a:t>Domain expertise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880360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1A1A1"/>
                </a:solidFill>
                <a:latin typeface="IBM Plex Sans Thai"/>
              </a:rPr>
              <a:t>ทีมสอน AI ให้องค์กรไทยมาแล้ว เข้าใจ pain ของ HR, ผู้บริหาร, พนักงาน</a:t>
            </a:r>
          </a:p>
          <a:p>
            <a:pPr algn="l"/>
            <a:r>
              <a:rPr sz="1200" b="0">
                <a:solidFill>
                  <a:srgbClr val="A1A1A1"/>
                </a:solidFill>
                <a:latin typeface="IBM Plex Sans Thai"/>
              </a:rPr>
              <a:t>รู้ว่าอะไรขายได้ อะไรขายไม่ได้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977640"/>
            <a:ext cx="5486400" cy="18288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977640"/>
            <a:ext cx="73152" cy="1828800"/>
          </a:xfrm>
          <a:prstGeom prst="rect">
            <a:avLst/>
          </a:prstGeom>
          <a:solidFill>
            <a:srgbClr val="00FF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2519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AFAFA"/>
                </a:solidFill>
                <a:latin typeface="IBM Plex Sans Thai"/>
              </a:rPr>
              <a:t>Thai-first DNA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846320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1A1A1"/>
                </a:solidFill>
                <a:latin typeface="IBM Plex Sans Thai"/>
              </a:rPr>
              <a:t>Antiparallel ไทยตั้งแต่วันแรก — ภาษา, integration, สรรพากร, Line</a:t>
            </a:r>
          </a:p>
          <a:p>
            <a:pPr algn="l"/>
            <a:r>
              <a:rPr sz="1200" b="0">
                <a:solidFill>
                  <a:srgbClr val="A1A1A1"/>
                </a:solidFill>
                <a:latin typeface="IBM Plex Sans Thai"/>
              </a:rPr>
              <a:t>ไม่ใช่ฝรั่ง localize แบบครึ่งๆ กลางๆ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3977640"/>
            <a:ext cx="5486400" cy="18288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3977640"/>
            <a:ext cx="73152" cy="1828800"/>
          </a:xfrm>
          <a:prstGeom prst="rect">
            <a:avLst/>
          </a:prstGeom>
          <a:solidFill>
            <a:srgbClr val="00FF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2519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AFAFA"/>
                </a:solidFill>
                <a:latin typeface="IBM Plex Sans Thai"/>
              </a:rPr>
              <a:t>Use cases อยู่ในมือแล้ว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846320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1A1A1"/>
                </a:solidFill>
                <a:latin typeface="IBM Plex Sans Thai"/>
              </a:rPr>
              <a:t>Founder มี use case จริงจากบริษัทตัวเอง + ลูกค้า + เพื่อนผู้บริหาร</a:t>
            </a:r>
          </a:p>
          <a:p>
            <a:pPr algn="l"/>
            <a:r>
              <a:rPr sz="1200" b="0">
                <a:solidFill>
                  <a:srgbClr val="A1A1A1"/>
                </a:solidFill>
                <a:latin typeface="IBM Plex Sans Thai"/>
              </a:rPr>
              <a:t>เริ่ม build แล้ว validate ได้ทันที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17171"/>
                </a:solidFill>
                <a:latin typeface="Inter"/>
              </a:rPr>
              <a:t>Antiparallel Flow  ·  Strategy Deck  ·  Confidential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17171"/>
                </a:solidFill>
                <a:latin typeface="Inter"/>
              </a:rPr>
              <a:t>19 / 38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6B35"/>
                </a:solidFill>
                <a:latin typeface="Inter"/>
              </a:rPr>
              <a:t>SECTION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>
                <a:solidFill>
                  <a:srgbClr val="FAFAFA"/>
                </a:solidFill>
                <a:latin typeface="Inter"/>
              </a:rPr>
              <a:t>Go-to-Market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A1A1A1"/>
                </a:solidFill>
                <a:latin typeface="IBM Plex Sans Thai"/>
              </a:rPr>
              <a:t>แผนขาย 6 เดือน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17171"/>
                </a:solidFill>
                <a:latin typeface="Inter"/>
              </a:rPr>
              <a:t>Antiparallel Flow  ·  Strategy Deck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17171"/>
                </a:solidFill>
                <a:latin typeface="Inter"/>
              </a:rPr>
              <a:t>20 / 38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00FF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8463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FFBA"/>
                </a:solidFill>
                <a:latin typeface="Inter"/>
              </a:rPr>
              <a:t>GTM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AFAFA"/>
                </a:solidFill>
                <a:latin typeface="Inter"/>
              </a:rPr>
              <a:t>6-month playbook — Bootstrap to ฿7-10M ARR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64240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11064240" cy="132588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137160" cy="1325880"/>
          </a:xfrm>
          <a:prstGeom prst="rect">
            <a:avLst/>
          </a:prstGeom>
          <a:solidFill>
            <a:srgbClr val="00FF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945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FFBA"/>
                </a:solidFill>
                <a:latin typeface="Inter"/>
              </a:rPr>
              <a:t>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5146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AFAFA"/>
                </a:solidFill>
                <a:latin typeface="Inter"/>
              </a:rPr>
              <a:t>M1-M2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1945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FFBA"/>
                </a:solidFill>
                <a:latin typeface="Inter"/>
              </a:rPr>
              <a:t>LAND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5146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AFAFA"/>
                </a:solidFill>
                <a:latin typeface="IBM Plex Sans Thai"/>
              </a:rPr>
              <a:t>5 dealsฟรี/ใกล้ฟรี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240280"/>
            <a:ext cx="5852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1A1A1"/>
                </a:solidFill>
                <a:latin typeface="IBM Plex Sans Thai"/>
              </a:rPr>
              <a:t>ทีม Antiparallel + ลูกค้า LMS + เพื่อนผู้บริหาร + SME ที่ปรึกษา</a:t>
            </a:r>
          </a:p>
          <a:p>
            <a:pPr algn="l"/>
            <a:r>
              <a:rPr sz="1200" b="0">
                <a:solidFill>
                  <a:srgbClr val="A1A1A1"/>
                </a:solidFill>
                <a:latin typeface="IBM Plex Sans Thai"/>
              </a:rPr>
              <a:t>Deliverable: 5 case study + 5 MSA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474720"/>
            <a:ext cx="11064240" cy="132588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474720"/>
            <a:ext cx="137160" cy="13258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6576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6B35"/>
                </a:solidFill>
                <a:latin typeface="Inter"/>
              </a:rPr>
              <a:t>Phase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776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AFAFA"/>
                </a:solidFill>
                <a:latin typeface="Inter"/>
              </a:rPr>
              <a:t>M3-M4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36576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6B35"/>
                </a:solidFill>
                <a:latin typeface="Inter"/>
              </a:rPr>
              <a:t>PRODUCTIZE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39776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AFAFA"/>
                </a:solidFill>
                <a:latin typeface="IBM Plex Sans Thai"/>
              </a:rPr>
              <a:t>Workflow Packs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3703320"/>
            <a:ext cx="5852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1A1A1"/>
                </a:solidFill>
                <a:latin typeface="IBM Plex Sans Thai"/>
              </a:rPr>
              <a:t>3 pack: Sales / Finance / HR — ราคา fix</a:t>
            </a:r>
          </a:p>
          <a:p>
            <a:pPr algn="l"/>
            <a:r>
              <a:rPr sz="1200" b="0">
                <a:solidFill>
                  <a:srgbClr val="A1A1A1"/>
                </a:solidFill>
                <a:latin typeface="IBM Plex Sans Thai"/>
              </a:rPr>
              <a:t>Deliverable: ขาย 10 ดีล, ARR ฿2.4M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937760"/>
            <a:ext cx="11064240" cy="132588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937760"/>
            <a:ext cx="137160" cy="1325880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1206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4757"/>
                </a:solidFill>
                <a:latin typeface="Inter"/>
              </a:rPr>
              <a:t>Phase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44068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AFAFA"/>
                </a:solidFill>
                <a:latin typeface="Inter"/>
              </a:rPr>
              <a:t>M5-M6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51206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4757"/>
                </a:solidFill>
                <a:latin typeface="Inter"/>
              </a:rPr>
              <a:t>SCALE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544068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AFAFA"/>
                </a:solidFill>
                <a:latin typeface="IBM Plex Sans Thai"/>
              </a:rPr>
              <a:t>3 channels parallel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5166360"/>
            <a:ext cx="5852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1A1A1"/>
                </a:solidFill>
                <a:latin typeface="IBM Plex Sans Thai"/>
              </a:rPr>
              <a:t>LMS upsell + content inbound + partner pipeline</a:t>
            </a:r>
          </a:p>
          <a:p>
            <a:pPr algn="l"/>
            <a:r>
              <a:rPr sz="1200" b="0">
                <a:solidFill>
                  <a:srgbClr val="A1A1A1"/>
                </a:solidFill>
                <a:latin typeface="IBM Plex Sans Thai"/>
              </a:rPr>
              <a:t>Deliverable: 20+ ดีล, 2 enterprise, ARR ฿7-10M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17171"/>
                </a:solidFill>
                <a:latin typeface="Inter"/>
              </a:rPr>
              <a:t>Antiparallel Flow  ·  Strategy Deck  ·  Confidential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17171"/>
                </a:solidFill>
                <a:latin typeface="Inter"/>
              </a:rPr>
              <a:t>21 / 38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00FF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8463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FFBA"/>
                </a:solidFill>
                <a:latin typeface="Inter"/>
              </a:rPr>
              <a:t>CHANNEL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AFAFA"/>
                </a:solidFill>
                <a:latin typeface="Inter"/>
              </a:rPr>
              <a:t>LMS Upsell Funnel — channel ที่ขายง่ายที่สุด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64240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FFBA"/>
                </a:solidFill>
                <a:latin typeface="Inter"/>
              </a:rPr>
              <a:t>HOW IT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AFAFA"/>
                </a:solidFill>
                <a:latin typeface="IBM Plex Sans Thai"/>
              </a:rPr>
              <a:t>ส่ง email ถึง HR/L&amp;D head ของลูกค้า LMS เดิม เสนอ Workshop ฟรี 2 ชม.</a:t>
            </a:r>
          </a:p>
          <a:p>
            <a:pPr algn="l"/>
            <a:r>
              <a:rPr sz="1400" b="0">
                <a:solidFill>
                  <a:srgbClr val="FAFAFA"/>
                </a:solidFill>
                <a:latin typeface="IBM Plex Sans Thai"/>
              </a:rPr>
              <a:t>Workshop: ระบุ pain point + live demo workflow → ปิดด้วย Quick Win Package ฿80k</a:t>
            </a:r>
          </a:p>
          <a:p>
            <a:pPr algn="l"/>
            <a:r>
              <a:rPr sz="1400" b="0">
                <a:solidFill>
                  <a:srgbClr val="FAFAFA"/>
                </a:solidFill>
                <a:latin typeface="IBM Plex Sans Thai"/>
              </a:rPr>
              <a:t>ถ้าผลดี 30 วัน → ขยายเป็น Workflow Pack หรือ Enterprise contract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319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FFBA"/>
                </a:solidFill>
                <a:latin typeface="Inter"/>
              </a:rPr>
              <a:t>PITCH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297680"/>
            <a:ext cx="11064240" cy="128016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4297680"/>
            <a:ext cx="73152" cy="1280160"/>
          </a:xfrm>
          <a:prstGeom prst="rect">
            <a:avLst/>
          </a:prstGeom>
          <a:solidFill>
            <a:srgbClr val="00FF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434840"/>
            <a:ext cx="10698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AFAFA"/>
                </a:solidFill>
                <a:latin typeface="IBM Plex Sans Thai"/>
              </a:rPr>
              <a:t>'บริษัทคุณซื้อคอร์ส AI ให้พนักงาน 100 คนแล้ว — เรียนเสร็จเค้าเอาไปใช้กี่คน?</a:t>
            </a:r>
          </a:p>
          <a:p>
            <a:pPr algn="l"/>
            <a:r>
              <a:rPr sz="1300" b="0">
                <a:solidFill>
                  <a:srgbClr val="FAFAFA"/>
                </a:solidFill>
                <a:latin typeface="IBM Plex Sans Thai"/>
              </a:rPr>
              <a:t>ผมขอ workshop 2 ชม. กับทีมคุณ เรามาดูว่า workflow ไหน AI ทำได้ — ฟรี ผมจะ build ตัวอย่างให้ดูเลย'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7607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FFBA"/>
                </a:solidFill>
                <a:latin typeface="Inter"/>
              </a:rPr>
              <a:t>EXPECTED CONVERSION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080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AFAFA"/>
                </a:solidFill>
                <a:latin typeface="IBM Plex Sans Thai"/>
              </a:rPr>
              <a:t>Email → Workshop 60%  ·  Workshop → Quick Win 30-40%  ·  Quick Win → Enterprise 60-70%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17171"/>
                </a:solidFill>
                <a:latin typeface="Inter"/>
              </a:rPr>
              <a:t>Antiparallel Flow  ·  Strategy Deck  ·  Confidential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17171"/>
                </a:solidFill>
                <a:latin typeface="Inter"/>
              </a:rPr>
              <a:t>22 / 38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00FF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8463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FFBA"/>
                </a:solidFill>
                <a:latin typeface="Inter"/>
              </a:rPr>
              <a:t>CHANNEL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AFAFA"/>
                </a:solidFill>
                <a:latin typeface="Inter"/>
              </a:rPr>
              <a:t>Founder-led Content — show, don't tell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64240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6B35"/>
                </a:solidFill>
                <a:latin typeface="Inter"/>
              </a:rPr>
              <a:t>HOW IT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AFAFA"/>
                </a:solidFill>
                <a:latin typeface="IBM Plex Sans Thai"/>
              </a:rPr>
              <a:t>Weekly: 'build workflow X ใน 10 นาที' บน YouTube + TikTok + LinkedIn</a:t>
            </a:r>
          </a:p>
          <a:p>
            <a:pPr algn="l"/>
            <a:r>
              <a:rPr sz="1400" b="0">
                <a:solidFill>
                  <a:srgbClr val="FAFAFA"/>
                </a:solidFill>
                <a:latin typeface="IBM Plex Sans Thai"/>
              </a:rPr>
              <a:t>Case study (anonymized) จากลูกค้า + dashboard screenshot</a:t>
            </a:r>
          </a:p>
          <a:p>
            <a:pPr algn="l"/>
            <a:r>
              <a:rPr sz="1400" b="0">
                <a:solidFill>
                  <a:srgbClr val="FAFAFA"/>
                </a:solidFill>
                <a:latin typeface="IBM Plex Sans Thai"/>
              </a:rPr>
              <a:t>LinkedIn: ผู้บริหารไทย scroll ทุกวัน → DM inbound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319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6B35"/>
                </a:solidFill>
                <a:latin typeface="Inter"/>
              </a:rPr>
              <a:t>PITCH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297680"/>
            <a:ext cx="11064240" cy="128016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4297680"/>
            <a:ext cx="73152" cy="12801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434840"/>
            <a:ext cx="10698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AFAFA"/>
                </a:solidFill>
                <a:latin typeface="IBM Plex Sans Thai"/>
              </a:rPr>
              <a:t>'ลูกค้าผมประหยัด 40 ชม./สัปดาห์ ด้วย workflow นี้' + GIF demo</a:t>
            </a:r>
          </a:p>
          <a:p>
            <a:pPr algn="l"/>
            <a:r>
              <a:rPr sz="1300" b="0">
                <a:solidFill>
                  <a:srgbClr val="FAFAFA"/>
                </a:solidFill>
                <a:latin typeface="IBM Plex Sans Thai"/>
              </a:rPr>
              <a:t>→ ผู้บริหารคนอื่นเห็น → comment 'ผมก็อยากได้' → DM → discovery call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7607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6B35"/>
                </a:solidFill>
                <a:latin typeface="Inter"/>
              </a:rPr>
              <a:t>EXPECTED CONVERSION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080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AFAFA"/>
                </a:solidFill>
                <a:latin typeface="IBM Plex Sans Thai"/>
              </a:rPr>
              <a:t>100 views → 1 DM  ·  10 DM → 3 discovery call  ·  3 call → 1 deal  (founder-led 3 เดือนแรก)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17171"/>
                </a:solidFill>
                <a:latin typeface="Inter"/>
              </a:rPr>
              <a:t>Antiparallel Flow  ·  Strategy Deck  ·  Confidential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17171"/>
                </a:solidFill>
                <a:latin typeface="Inter"/>
              </a:rPr>
              <a:t>23 / 38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00FF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8463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FFBA"/>
                </a:solidFill>
                <a:latin typeface="Inter"/>
              </a:rPr>
              <a:t>CHANNEL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AFAFA"/>
                </a:solidFill>
                <a:latin typeface="Inter"/>
              </a:rPr>
              <a:t>Partner Channel — เก็บไว้ Phase 3+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64240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4757"/>
                </a:solidFill>
                <a:latin typeface="Inter"/>
              </a:rPr>
              <a:t>HOW IT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AFAFA"/>
                </a:solidFill>
                <a:latin typeface="IBM Plex Sans Thai"/>
              </a:rPr>
              <a:t>Partner 3 ประเภท: สำนักงานบัญชี/ทนาย (มี SME portfolio 50-200) → revshare 20%</a:t>
            </a:r>
          </a:p>
          <a:p>
            <a:pPr algn="l"/>
            <a:r>
              <a:rPr sz="1400" b="0">
                <a:solidFill>
                  <a:srgbClr val="FAFAFA"/>
                </a:solidFill>
                <a:latin typeface="IBM Plex Sans Thai"/>
              </a:rPr>
              <a:t>IT consultant / SI ไทย → enterprise relationship → co-sell หรือ white label</a:t>
            </a:r>
          </a:p>
          <a:p>
            <a:pPr algn="l"/>
            <a:r>
              <a:rPr sz="1400" b="0">
                <a:solidFill>
                  <a:srgbClr val="FAFAFA"/>
                </a:solidFill>
                <a:latin typeface="IBM Plex Sans Thai"/>
              </a:rPr>
              <a:t>Line OA tool partners (Zaapi, Page365) → outgrow 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319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4757"/>
                </a:solidFill>
                <a:latin typeface="Inter"/>
              </a:rPr>
              <a:t>PITCH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297680"/>
            <a:ext cx="11064240" cy="128016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4297680"/>
            <a:ext cx="73152" cy="1280160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434840"/>
            <a:ext cx="10698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AFAFA"/>
                </a:solidFill>
                <a:latin typeface="IBM Plex Sans Thai"/>
              </a:rPr>
              <a:t>'คุณมีลูกค้า SME 100 ราย — ขาย Flow Sales Pack ให้ลูกค้าคุณ ได้ 20% lifetime</a:t>
            </a:r>
          </a:p>
          <a:p>
            <a:pPr algn="l"/>
            <a:r>
              <a:rPr sz="1300" b="0">
                <a:solidFill>
                  <a:srgbClr val="FAFAFA"/>
                </a:solidFill>
                <a:latin typeface="IBM Plex Sans Thai"/>
              </a:rPr>
              <a:t>เราดูแล implementation ให้ คุณดูแล relationship'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7607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4757"/>
                </a:solidFill>
                <a:latin typeface="Inter"/>
              </a:rPr>
              <a:t>EXPECTED CONVERSION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080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AFAFA"/>
                </a:solidFill>
                <a:latin typeface="IBM Plex Sans Thai"/>
              </a:rPr>
              <a:t>Partner sourced deals: target 30% ของ pipeline ใน Year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17171"/>
                </a:solidFill>
                <a:latin typeface="Inter"/>
              </a:rPr>
              <a:t>Antiparallel Flow  ·  Strategy Deck  ·  Confidential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17171"/>
                </a:solidFill>
                <a:latin typeface="Inter"/>
              </a:rPr>
              <a:t>24 / 38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00FF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8463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FFBA"/>
                </a:solidFill>
                <a:latin typeface="Inter"/>
              </a:rPr>
              <a:t>PRICING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AFAFA"/>
                </a:solidFill>
                <a:latin typeface="Inter"/>
              </a:rPr>
              <a:t>4 tiers — sweet spot ที่ Business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64240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2743200" cy="41148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286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AFAFA"/>
                </a:solidFill>
                <a:latin typeface="Inter"/>
              </a:rPr>
              <a:t>STARTER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51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17171"/>
                </a:solidFill>
                <a:latin typeface="IBM Plex Sans Thai"/>
              </a:rPr>
              <a:t>SME / Micro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0896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AFAFA"/>
                </a:solidFill>
                <a:latin typeface="Inter"/>
              </a:rPr>
              <a:t>฿80k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0332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17171"/>
                </a:solidFill>
                <a:latin typeface="Inter"/>
              </a:rPr>
              <a:t>setup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1148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AFAFA"/>
                </a:solidFill>
                <a:latin typeface="Inter"/>
              </a:rPr>
              <a:t>฿15k/mo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17171"/>
                </a:solidFill>
                <a:latin typeface="Inter"/>
              </a:rPr>
              <a:t>recurring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5029200"/>
            <a:ext cx="2286000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16636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1A1A1"/>
                </a:solidFill>
                <a:latin typeface="IBM Plex Sans Thai"/>
              </a:rPr>
              <a:t>1 workflow</a:t>
            </a:r>
          </a:p>
          <a:p>
            <a:pPr algn="l"/>
            <a:r>
              <a:rPr sz="1100" b="0">
                <a:solidFill>
                  <a:srgbClr val="A1A1A1"/>
                </a:solidFill>
                <a:latin typeface="IBM Plex Sans Thai"/>
              </a:rPr>
              <a:t>email support</a:t>
            </a:r>
          </a:p>
          <a:p>
            <a:pPr algn="l"/>
            <a:r>
              <a:rPr sz="1100" b="0">
                <a:solidFill>
                  <a:srgbClr val="A1A1A1"/>
                </a:solidFill>
                <a:latin typeface="IBM Plex Sans Thai"/>
              </a:rPr>
              <a:t>5k runs/mo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2011680"/>
            <a:ext cx="2743200" cy="41148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3280" y="2011680"/>
            <a:ext cx="2743200" cy="73152"/>
          </a:xfrm>
          <a:prstGeom prst="rect">
            <a:avLst/>
          </a:prstGeom>
          <a:solidFill>
            <a:srgbClr val="00FF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0" y="164592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0FFBA"/>
                </a:solidFill>
                <a:latin typeface="Inter"/>
              </a:rPr>
              <a:t>★ RECOMMENDED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2286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FFBA"/>
                </a:solidFill>
                <a:latin typeface="Inter"/>
              </a:rPr>
              <a:t>BUSINESS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2651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17171"/>
                </a:solidFill>
                <a:latin typeface="IBM Plex Sans Thai"/>
              </a:rPr>
              <a:t>Corporate 200+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310896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AFAFA"/>
                </a:solidFill>
                <a:latin typeface="Inter"/>
              </a:rPr>
              <a:t>฿250k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370332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17171"/>
                </a:solidFill>
                <a:latin typeface="Inter"/>
              </a:rPr>
              <a:t>setup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1880" y="41148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AFAFA"/>
                </a:solidFill>
                <a:latin typeface="Inter"/>
              </a:rPr>
              <a:t>฿35k/mo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457200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17171"/>
                </a:solidFill>
                <a:latin typeface="Inter"/>
              </a:rPr>
              <a:t>recurring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11880" y="5029200"/>
            <a:ext cx="2286000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11880" y="516636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1A1A1"/>
                </a:solidFill>
                <a:latin typeface="IBM Plex Sans Thai"/>
              </a:rPr>
              <a:t>3 workflows</a:t>
            </a:r>
          </a:p>
          <a:p>
            <a:pPr algn="l"/>
            <a:r>
              <a:rPr sz="1100" b="0">
                <a:solidFill>
                  <a:srgbClr val="A1A1A1"/>
                </a:solidFill>
                <a:latin typeface="IBM Plex Sans Thai"/>
              </a:rPr>
              <a:t>Line support</a:t>
            </a:r>
          </a:p>
          <a:p>
            <a:pPr algn="l"/>
            <a:r>
              <a:rPr sz="1100" b="0">
                <a:solidFill>
                  <a:srgbClr val="A1A1A1"/>
                </a:solidFill>
                <a:latin typeface="IBM Plex Sans Thai"/>
              </a:rPr>
              <a:t>50k runs/mo</a:t>
            </a:r>
          </a:p>
          <a:p>
            <a:pPr algn="l"/>
            <a:r>
              <a:rPr sz="1100" b="0">
                <a:solidFill>
                  <a:srgbClr val="A1A1A1"/>
                </a:solidFill>
                <a:latin typeface="IBM Plex Sans Thai"/>
              </a:rPr>
              <a:t>1 custom integration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2011680"/>
            <a:ext cx="2743200" cy="41148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2286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AFAFA"/>
                </a:solidFill>
                <a:latin typeface="Inter"/>
              </a:rPr>
              <a:t>ENTERPRISE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2651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17171"/>
                </a:solidFill>
                <a:latin typeface="IBM Plex Sans Thai"/>
              </a:rPr>
              <a:t>1,000+ คน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310896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AFAFA"/>
                </a:solidFill>
                <a:latin typeface="Inter"/>
              </a:rPr>
              <a:t>฿500k-1.5M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370332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17171"/>
                </a:solidFill>
                <a:latin typeface="Inter"/>
              </a:rPr>
              <a:t>setup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41148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AFAFA"/>
                </a:solidFill>
                <a:latin typeface="Inter"/>
              </a:rPr>
              <a:t>฿80-200k/mo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457200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17171"/>
                </a:solidFill>
                <a:latin typeface="Inter"/>
              </a:rPr>
              <a:t>recurring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46520" y="5029200"/>
            <a:ext cx="2286000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516636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1A1A1"/>
                </a:solidFill>
                <a:latin typeface="IBM Plex Sans Thai"/>
              </a:rPr>
              <a:t>Unlimited workflows</a:t>
            </a:r>
          </a:p>
          <a:p>
            <a:pPr algn="l"/>
            <a:r>
              <a:rPr sz="1100" b="0">
                <a:solidFill>
                  <a:srgbClr val="A1A1A1"/>
                </a:solidFill>
                <a:latin typeface="IBM Plex Sans Thai"/>
              </a:rPr>
              <a:t>SLA + dedicated eng</a:t>
            </a:r>
          </a:p>
          <a:p>
            <a:pPr algn="l"/>
            <a:r>
              <a:rPr sz="1100" b="0">
                <a:solidFill>
                  <a:srgbClr val="A1A1A1"/>
                </a:solidFill>
                <a:latin typeface="IBM Plex Sans Thai"/>
              </a:rPr>
              <a:t>On-prem option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52560" y="2011680"/>
            <a:ext cx="2743200" cy="41148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81160" y="2286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AFAFA"/>
                </a:solidFill>
                <a:latin typeface="Inter"/>
              </a:rPr>
              <a:t>CONSULTING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81160" y="2651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17171"/>
                </a:solidFill>
                <a:latin typeface="IBM Plex Sans Thai"/>
              </a:rPr>
              <a:t>Transformation partner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81160" y="310896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AFAFA"/>
                </a:solidFill>
                <a:latin typeface="Inter"/>
              </a:rPr>
              <a:t>฿1.5-3M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81160" y="370332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17171"/>
                </a:solidFill>
                <a:latin typeface="Inter"/>
              </a:rPr>
              <a:t>setup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81160" y="41148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AFAFA"/>
                </a:solidFill>
                <a:latin typeface="Inter"/>
              </a:rPr>
              <a:t>Project-based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81160" y="457200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17171"/>
                </a:solidFill>
                <a:latin typeface="Inter"/>
              </a:rPr>
              <a:t>recurring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281160" y="5029200"/>
            <a:ext cx="2286000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81160" y="516636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1A1A1"/>
                </a:solidFill>
                <a:latin typeface="IBM Plex Sans Thai"/>
              </a:rPr>
              <a:t>AI Operating Model</a:t>
            </a:r>
          </a:p>
          <a:p>
            <a:pPr algn="l"/>
            <a:r>
              <a:rPr sz="1100" b="0">
                <a:solidFill>
                  <a:srgbClr val="A1A1A1"/>
                </a:solidFill>
                <a:latin typeface="IBM Plex Sans Thai"/>
              </a:rPr>
              <a:t>6-month engagement</a:t>
            </a:r>
          </a:p>
          <a:p>
            <a:pPr algn="l"/>
            <a:r>
              <a:rPr sz="1100" b="0">
                <a:solidFill>
                  <a:srgbClr val="A1A1A1"/>
                </a:solidFill>
                <a:latin typeface="IBM Plex Sans Thai"/>
              </a:rPr>
              <a:t>C-suite advisory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17171"/>
                </a:solidFill>
                <a:latin typeface="Inter"/>
              </a:rPr>
              <a:t>Antiparallel Flow  ·  Strategy Deck  ·  Confidential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17171"/>
                </a:solidFill>
                <a:latin typeface="Inter"/>
              </a:rPr>
              <a:t>25 / 38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6B35"/>
                </a:solidFill>
                <a:latin typeface="Inter"/>
              </a:rPr>
              <a:t>SECTION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>
                <a:solidFill>
                  <a:srgbClr val="FAFAFA"/>
                </a:solidFill>
                <a:latin typeface="Inter"/>
              </a:rPr>
              <a:t>Financials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A1A1A1"/>
                </a:solidFill>
                <a:latin typeface="IBM Plex Sans Thai"/>
              </a:rPr>
              <a:t>Unit economics + projection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17171"/>
                </a:solidFill>
                <a:latin typeface="Inter"/>
              </a:rPr>
              <a:t>Antiparallel Flow  ·  Strategy Deck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17171"/>
                </a:solidFill>
                <a:latin typeface="Inter"/>
              </a:rPr>
              <a:t>26 / 38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00FF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8463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FFBA"/>
                </a:solidFill>
                <a:latin typeface="Inter"/>
              </a:rPr>
              <a:t>UNIT 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AFAFA"/>
                </a:solidFill>
                <a:latin typeface="Inter"/>
              </a:rPr>
              <a:t>เคส Business tier (sweet spot)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64240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FFBA"/>
                </a:solidFill>
                <a:latin typeface="Inter"/>
              </a:rPr>
              <a:t>REVENUE PER CUSTOMER (Year 1)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468880"/>
            <a:ext cx="5394960" cy="5029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58775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AFAFA"/>
                </a:solidFill>
                <a:latin typeface="IBM Plex Sans Thai"/>
              </a:rPr>
              <a:t>Setup fee (one-time)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587752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>
                <a:solidFill>
                  <a:srgbClr val="FAFAFA"/>
                </a:solidFill>
                <a:latin typeface="Inter"/>
              </a:rPr>
              <a:t>฿250,000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035808"/>
            <a:ext cx="5394960" cy="5029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1546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AFAFA"/>
                </a:solidFill>
                <a:latin typeface="IBM Plex Sans Thai"/>
              </a:rPr>
              <a:t>Monthly subscription ×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1546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>
                <a:solidFill>
                  <a:srgbClr val="FAFAFA"/>
                </a:solidFill>
                <a:latin typeface="Inter"/>
              </a:rPr>
              <a:t>฿420,000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602736"/>
            <a:ext cx="5394960" cy="50292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72160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AFAFA"/>
                </a:solidFill>
                <a:latin typeface="IBM Plex Sans Thai"/>
              </a:rPr>
              <a:t>Total Year 1 Revenue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72160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>
                <a:solidFill>
                  <a:srgbClr val="00FFBA"/>
                </a:solidFill>
                <a:latin typeface="Inter"/>
              </a:rPr>
              <a:t>฿670,000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0116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4757"/>
                </a:solidFill>
                <a:latin typeface="Inter"/>
              </a:rPr>
              <a:t>COST PER CUSTOMER (Year 1)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468880"/>
            <a:ext cx="5394960" cy="5029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258775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AFAFA"/>
                </a:solidFill>
                <a:latin typeface="IBM Plex Sans Thai"/>
              </a:rPr>
              <a:t>Implementation (15 hrs × ฿2k)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587752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>
                <a:solidFill>
                  <a:srgbClr val="FAFAFA"/>
                </a:solidFill>
                <a:latin typeface="Inter"/>
              </a:rPr>
              <a:t>฿30,000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035808"/>
            <a:ext cx="5394960" cy="5029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31546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AFAFA"/>
                </a:solidFill>
                <a:latin typeface="IBM Plex Sans Thai"/>
              </a:rPr>
              <a:t>API + infra (avg 50k runs/mo)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31546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>
                <a:solidFill>
                  <a:srgbClr val="FAFAFA"/>
                </a:solidFill>
                <a:latin typeface="Inter"/>
              </a:rPr>
              <a:t>฿72,000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3602736"/>
            <a:ext cx="5394960" cy="5029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72160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AFAFA"/>
                </a:solidFill>
                <a:latin typeface="IBM Plex Sans Thai"/>
              </a:rPr>
              <a:t>Support + account mgmt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372160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>
                <a:solidFill>
                  <a:srgbClr val="FAFAFA"/>
                </a:solidFill>
                <a:latin typeface="Inter"/>
              </a:rPr>
              <a:t>฿48,000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4169664"/>
            <a:ext cx="5394960" cy="5029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288536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AFAFA"/>
                </a:solidFill>
                <a:latin typeface="IBM Plex Sans Thai"/>
              </a:rPr>
              <a:t>Sales cost (CAC allocation)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4288536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>
                <a:solidFill>
                  <a:srgbClr val="FAFAFA"/>
                </a:solidFill>
                <a:latin typeface="Inter"/>
              </a:rPr>
              <a:t>฿80,000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4736592"/>
            <a:ext cx="5394960" cy="50292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4855464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AFAFA"/>
                </a:solidFill>
                <a:latin typeface="IBM Plex Sans Thai"/>
              </a:rPr>
              <a:t>Total Year 1 Cost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4855464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>
                <a:solidFill>
                  <a:srgbClr val="FF4757"/>
                </a:solidFill>
                <a:latin typeface="Inter"/>
              </a:rPr>
              <a:t>฿230,000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5669280"/>
            <a:ext cx="2697480" cy="77724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779008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17171"/>
                </a:solidFill>
                <a:latin typeface="Inter"/>
              </a:rPr>
              <a:t>Gross Margin Y1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603504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0FFBA"/>
                </a:solidFill>
                <a:latin typeface="Inter"/>
              </a:rPr>
              <a:t>66%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37560" y="5669280"/>
            <a:ext cx="2697480" cy="77724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20440" y="5779008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17171"/>
                </a:solidFill>
                <a:latin typeface="Inter"/>
              </a:rPr>
              <a:t>Payback Period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20440" y="603504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0FFBA"/>
                </a:solidFill>
                <a:latin typeface="Inter"/>
              </a:rPr>
              <a:t>5 เดือน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26480" y="5669280"/>
            <a:ext cx="2697480" cy="77724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60" y="5779008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17171"/>
                </a:solidFill>
                <a:latin typeface="Inter"/>
              </a:rPr>
              <a:t>LTV (3yr)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603504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0FFBA"/>
                </a:solidFill>
                <a:latin typeface="Inter"/>
              </a:rPr>
              <a:t>~฿1.5M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915400" y="5669280"/>
            <a:ext cx="2697480" cy="77724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98280" y="5779008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17171"/>
                </a:solidFill>
                <a:latin typeface="Inter"/>
              </a:rPr>
              <a:t>LTV / CAC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98280" y="603504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0FFBA"/>
                </a:solidFill>
                <a:latin typeface="Inter"/>
              </a:rPr>
              <a:t>18×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17171"/>
                </a:solidFill>
                <a:latin typeface="Inter"/>
              </a:rPr>
              <a:t>Antiparallel Flow  ·  Strategy Deck  ·  Confidential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17171"/>
                </a:solidFill>
                <a:latin typeface="Inter"/>
              </a:rPr>
              <a:t>27 / 38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00FF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8463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FFBA"/>
                </a:solidFill>
                <a:latin typeface="Inter"/>
              </a:rPr>
              <a:t>PROJECTION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AFAFA"/>
                </a:solidFill>
                <a:latin typeface="Inter"/>
              </a:rPr>
              <a:t>6-month financial trajectory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64240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2606040" cy="50292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21284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AFAFA"/>
                </a:solidFill>
                <a:latin typeface="Inter"/>
              </a:rPr>
              <a:t>Metric</a:t>
            </a:r>
          </a:p>
        </p:txBody>
      </p:sp>
      <p:sp>
        <p:nvSpPr>
          <p:cNvPr id="9" name="Rectangle 8"/>
          <p:cNvSpPr/>
          <p:nvPr/>
        </p:nvSpPr>
        <p:spPr>
          <a:xfrm>
            <a:off x="3154680" y="2103120"/>
            <a:ext cx="1417320" cy="50292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2212848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0FFBA"/>
                </a:solidFill>
                <a:latin typeface="Inter"/>
              </a:rPr>
              <a:t>M1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2103120"/>
            <a:ext cx="1417320" cy="50292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2212848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0FFBA"/>
                </a:solidFill>
                <a:latin typeface="Inter"/>
              </a:rPr>
              <a:t>M2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89320" y="2103120"/>
            <a:ext cx="1417320" cy="50292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2212848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0FFBA"/>
                </a:solidFill>
                <a:latin typeface="Inter"/>
              </a:rPr>
              <a:t>M3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06640" y="2103120"/>
            <a:ext cx="1417320" cy="50292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43800" y="2212848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0FFBA"/>
                </a:solidFill>
                <a:latin typeface="Inter"/>
              </a:rPr>
              <a:t>M4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23960" y="2103120"/>
            <a:ext cx="1417320" cy="50292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0" y="2212848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0FFBA"/>
                </a:solidFill>
                <a:latin typeface="Inter"/>
              </a:rPr>
              <a:t>M5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1280" y="2103120"/>
            <a:ext cx="1417320" cy="50292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78440" y="2212848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0FFBA"/>
                </a:solidFill>
                <a:latin typeface="Inter"/>
              </a:rPr>
              <a:t>M6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651760"/>
            <a:ext cx="2606040" cy="54864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278892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AFAFA"/>
                </a:solidFill>
                <a:latin typeface="Inter"/>
              </a:rPr>
              <a:t>Customers (paying)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54680" y="2651760"/>
            <a:ext cx="1417320" cy="54864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91840" y="278892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AFAFA"/>
                </a:solidFill>
                <a:latin typeface="Inter"/>
              </a:rPr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0" y="2651760"/>
            <a:ext cx="1417320" cy="54864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09160" y="278892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AFAFA"/>
                </a:solidFill>
                <a:latin typeface="Inter"/>
              </a:rPr>
              <a:t>5*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89320" y="2651760"/>
            <a:ext cx="1417320" cy="54864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0" y="278892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AFAFA"/>
                </a:solidFill>
                <a:latin typeface="Inter"/>
              </a:rPr>
              <a:t>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06640" y="2651760"/>
            <a:ext cx="1417320" cy="54864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43800" y="278892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AFAFA"/>
                </a:solidFill>
                <a:latin typeface="Inter"/>
              </a:rPr>
              <a:t>10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23960" y="2651760"/>
            <a:ext cx="1417320" cy="54864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0" y="278892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AFAFA"/>
                </a:solidFill>
                <a:latin typeface="Inter"/>
              </a:rPr>
              <a:t>15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241280" y="2651760"/>
            <a:ext cx="1417320" cy="54864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78440" y="278892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AFAFA"/>
                </a:solidFill>
                <a:latin typeface="Inter"/>
              </a:rPr>
              <a:t>22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3246120"/>
            <a:ext cx="2606040" cy="54864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338328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AFAFA"/>
                </a:solidFill>
                <a:latin typeface="Inter"/>
              </a:rPr>
              <a:t>ARR run-rate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54680" y="3246120"/>
            <a:ext cx="1417320" cy="54864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91840" y="338328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AFAFA"/>
                </a:solidFill>
                <a:latin typeface="Inter"/>
              </a:rPr>
              <a:t>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0" y="3246120"/>
            <a:ext cx="1417320" cy="54864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09160" y="338328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AFAFA"/>
                </a:solidFill>
                <a:latin typeface="Inter"/>
              </a:rPr>
              <a:t>—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89320" y="3246120"/>
            <a:ext cx="1417320" cy="54864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26480" y="338328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AFAFA"/>
                </a:solidFill>
                <a:latin typeface="Inter"/>
              </a:rPr>
              <a:t>฿0.9M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06640" y="3246120"/>
            <a:ext cx="1417320" cy="54864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43800" y="338328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AFAFA"/>
                </a:solidFill>
                <a:latin typeface="Inter"/>
              </a:rPr>
              <a:t>฿2.4M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823960" y="3246120"/>
            <a:ext cx="1417320" cy="54864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61120" y="338328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AFAFA"/>
                </a:solidFill>
                <a:latin typeface="Inter"/>
              </a:rPr>
              <a:t>฿4.5M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241280" y="3246120"/>
            <a:ext cx="1417320" cy="54864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378440" y="338328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AFAFA"/>
                </a:solidFill>
                <a:latin typeface="Inter"/>
              </a:rPr>
              <a:t>฿7.4M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3840480"/>
            <a:ext cx="2606040" cy="54864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5800" y="397764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AFAFA"/>
                </a:solidFill>
                <a:latin typeface="Inter"/>
              </a:rPr>
              <a:t>Cum. Revenue (cash)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54680" y="3840480"/>
            <a:ext cx="1417320" cy="54864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91840" y="397764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AFAFA"/>
                </a:solidFill>
                <a:latin typeface="Inter"/>
              </a:rPr>
              <a:t>฿0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0" y="3840480"/>
            <a:ext cx="1417320" cy="54864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709160" y="397764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AFAFA"/>
                </a:solidFill>
                <a:latin typeface="Inter"/>
              </a:rPr>
              <a:t>฿0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989320" y="3840480"/>
            <a:ext cx="1417320" cy="54864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26480" y="397764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AFAFA"/>
                </a:solidFill>
                <a:latin typeface="Inter"/>
              </a:rPr>
              <a:t>฿650k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406640" y="3840480"/>
            <a:ext cx="1417320" cy="54864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43800" y="397764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AFAFA"/>
                </a:solidFill>
                <a:latin typeface="Inter"/>
              </a:rPr>
              <a:t>฿1.2M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823960" y="3840480"/>
            <a:ext cx="1417320" cy="54864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961120" y="397764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AFAFA"/>
                </a:solidFill>
                <a:latin typeface="Inter"/>
              </a:rPr>
              <a:t>฿2.1M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241280" y="3840480"/>
            <a:ext cx="1417320" cy="54864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378440" y="397764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AFAFA"/>
                </a:solidFill>
                <a:latin typeface="Inter"/>
              </a:rPr>
              <a:t>฿3.4M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8640" y="4434840"/>
            <a:ext cx="2606040" cy="54864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85800" y="457200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AFAFA"/>
                </a:solidFill>
                <a:latin typeface="Inter"/>
              </a:rPr>
              <a:t>Monthly Burn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154680" y="4434840"/>
            <a:ext cx="1417320" cy="54864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291840" y="457200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AFAFA"/>
                </a:solidFill>
                <a:latin typeface="Inter"/>
              </a:rPr>
              <a:t>฿450k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0" y="4434840"/>
            <a:ext cx="1417320" cy="54864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709160" y="457200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AFAFA"/>
                </a:solidFill>
                <a:latin typeface="Inter"/>
              </a:rPr>
              <a:t>฿500k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989320" y="4434840"/>
            <a:ext cx="1417320" cy="54864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126480" y="457200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AFAFA"/>
                </a:solidFill>
                <a:latin typeface="Inter"/>
              </a:rPr>
              <a:t>฿520k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406640" y="4434840"/>
            <a:ext cx="1417320" cy="54864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543800" y="457200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AFAFA"/>
                </a:solidFill>
                <a:latin typeface="Inter"/>
              </a:rPr>
              <a:t>฿540k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823960" y="4434840"/>
            <a:ext cx="1417320" cy="54864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961120" y="457200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AFAFA"/>
                </a:solidFill>
                <a:latin typeface="Inter"/>
              </a:rPr>
              <a:t>฿580k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241280" y="4434840"/>
            <a:ext cx="1417320" cy="54864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378440" y="457200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AFAFA"/>
                </a:solidFill>
                <a:latin typeface="Inter"/>
              </a:rPr>
              <a:t>฿620k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48640" y="56692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17171"/>
                </a:solidFill>
                <a:latin typeface="IBM Plex Sans Thai"/>
              </a:rPr>
              <a:t>* 5 case studies (free/near-free) → convert to paid in M3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FFBA"/>
                </a:solidFill>
                <a:latin typeface="IBM Plex Sans Thai"/>
              </a:rPr>
              <a:t>Target end of M6: 22 paying customers · ฿7.4M ARR · cash flow positive in M7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17171"/>
                </a:solidFill>
                <a:latin typeface="Inter"/>
              </a:rPr>
              <a:t>Antiparallel Flow  ·  Strategy Deck  ·  Confidential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17171"/>
                </a:solidFill>
                <a:latin typeface="Inter"/>
              </a:rPr>
              <a:t>28 / 38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00FF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8463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FFBA"/>
                </a:solidFill>
                <a:latin typeface="Inter"/>
              </a:rPr>
              <a:t>KPIS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AFAFA"/>
                </a:solidFill>
                <a:latin typeface="Inter"/>
              </a:rPr>
              <a:t>Health metrics — ทุกเดือนต้องดู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64240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3657600" cy="18288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AFAFA"/>
                </a:solidFill>
                <a:latin typeface="Inter"/>
              </a:rPr>
              <a:t>Workflow runs /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8892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1A1A1"/>
                </a:solidFill>
                <a:latin typeface="IBM Plex Sans Thai"/>
              </a:rPr>
              <a:t>Engagement signal — ถ้านิ่ง = ลูกค้าไม่ใช้จริง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290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FFBA"/>
                </a:solidFill>
                <a:latin typeface="Inter"/>
              </a:rPr>
              <a:t>Target: 30% MoM growth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2011680"/>
            <a:ext cx="3657600" cy="18288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2402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AFAFA"/>
                </a:solidFill>
                <a:latin typeface="Inter"/>
              </a:rPr>
              <a:t>% customers with ≥ 2 workflows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78892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1A1A1"/>
                </a:solidFill>
                <a:latin typeface="IBM Plex Sans Thai"/>
              </a:rPr>
              <a:t>Expansion signal — ตัวขับ ARR growth ที่แท้จริง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4290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FFBA"/>
                </a:solidFill>
                <a:latin typeface="Inter"/>
              </a:rPr>
              <a:t>Target: 60% by M6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2011680"/>
            <a:ext cx="3657600" cy="18288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2402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AFAFA"/>
                </a:solidFill>
                <a:latin typeface="Inter"/>
              </a:rPr>
              <a:t>Logo churn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78892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1A1A1"/>
                </a:solidFill>
                <a:latin typeface="IBM Plex Sans Thai"/>
              </a:rPr>
              <a:t>ถ้า &gt; 5%/เดือนใน 6 เดือนแรก = product ไม่ผูกขาดจริง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4290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FFBA"/>
                </a:solidFill>
                <a:latin typeface="Inter"/>
              </a:rPr>
              <a:t>Target: &lt; 3%/month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977640"/>
            <a:ext cx="3657600" cy="18288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2062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AFAFA"/>
                </a:solidFill>
                <a:latin typeface="Inter"/>
              </a:rPr>
              <a:t>Buyer NPS (CFO/CEO)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75488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1A1A1"/>
                </a:solidFill>
                <a:latin typeface="IBM Plex Sans Thai"/>
              </a:rPr>
              <a:t>เค้าจ่ายเงิน — ความพอใจเค้าสำคัญที่สุด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3949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FFBA"/>
                </a:solidFill>
                <a:latin typeface="Inter"/>
              </a:rPr>
              <a:t>Target: &gt; 50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43400" y="3977640"/>
            <a:ext cx="3657600" cy="18288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42062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AFAFA"/>
                </a:solidFill>
                <a:latin typeface="Inter"/>
              </a:rPr>
              <a:t>User NPS (พนักงาน)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475488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1A1A1"/>
                </a:solidFill>
                <a:latin typeface="IBM Plex Sans Thai"/>
              </a:rPr>
              <a:t>Daily active ของจริง — ขาดมาเร็วถ้าผู้บริหารดัน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53949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FFBA"/>
                </a:solidFill>
                <a:latin typeface="Inter"/>
              </a:rPr>
              <a:t>Target: &gt; 30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3977640"/>
            <a:ext cx="3657600" cy="18288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42062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AFAFA"/>
                </a:solidFill>
                <a:latin typeface="Inter"/>
              </a:rPr>
              <a:t>Payback period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75488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1A1A1"/>
                </a:solidFill>
                <a:latin typeface="IBM Plex Sans Thai"/>
              </a:rPr>
              <a:t>ดูได้ตั้งแต่ M4 — ถ้า &gt; 9 เดือน = pricing ผิด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53949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FFBA"/>
                </a:solidFill>
                <a:latin typeface="Inter"/>
              </a:rPr>
              <a:t>Target: &lt; 6 เดือน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17171"/>
                </a:solidFill>
                <a:latin typeface="Inter"/>
              </a:rPr>
              <a:t>Antiparallel Flow  ·  Strategy Deck  ·  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17171"/>
                </a:solidFill>
                <a:latin typeface="Inter"/>
              </a:rPr>
              <a:t>29 / 38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FF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FFBA"/>
                </a:solidFill>
                <a:latin typeface="Inter"/>
              </a:rPr>
              <a:t>SECTION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>
                <a:solidFill>
                  <a:srgbClr val="FAFAFA"/>
                </a:solidFill>
                <a:latin typeface="Inter"/>
              </a:rPr>
              <a:t>Execution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A1A1A1"/>
                </a:solidFill>
                <a:latin typeface="IBM Plex Sans Thai"/>
              </a:rPr>
              <a:t>Team, roadmap, risks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17171"/>
                </a:solidFill>
                <a:latin typeface="Inter"/>
              </a:rPr>
              <a:t>Antiparallel Flow  ·  Strategy Deck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17171"/>
                </a:solidFill>
                <a:latin typeface="Inter"/>
              </a:rPr>
              <a:t>30 / 38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00FF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8463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FFBA"/>
                </a:solidFill>
                <a:latin typeface="Inter"/>
              </a:rPr>
              <a:t>TEAM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AFAFA"/>
                </a:solidFill>
                <a:latin typeface="Inter"/>
              </a:rPr>
              <a:t>3 hires across 6 months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64240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11064240" cy="128016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1280160" cy="128016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46888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00FFBA"/>
                </a:solidFill>
                <a:latin typeface="Inter"/>
              </a:rPr>
              <a:t>M1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1945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AFAFA"/>
                </a:solidFill>
                <a:latin typeface="Inter"/>
              </a:rPr>
              <a:t>Implementation Engineer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60604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1A1A1"/>
                </a:solidFill>
                <a:latin typeface="IBM Plex Sans Thai"/>
              </a:rPr>
              <a:t>Build workflow ให้ลูกค้า — bottleneck แรก</a:t>
            </a:r>
          </a:p>
          <a:p>
            <a:pPr algn="l"/>
            <a:r>
              <a:rPr sz="1200" b="0">
                <a:solidFill>
                  <a:srgbClr val="A1A1A1"/>
                </a:solidFill>
                <a:latin typeface="IBM Plex Sans Thai"/>
              </a:rPr>
              <a:t>ต้องเป็น generalist เก่ง API + LLM + product sense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251460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FF6B35"/>
                </a:solidFill>
                <a:latin typeface="Inter"/>
              </a:rPr>
              <a:t>฿80-120k/mo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474720"/>
            <a:ext cx="11064240" cy="128016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474720"/>
            <a:ext cx="1280160" cy="128016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9319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00FFBA"/>
                </a:solidFill>
                <a:latin typeface="Inter"/>
              </a:rPr>
              <a:t>M3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36576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AFAFA"/>
                </a:solidFill>
                <a:latin typeface="Inter"/>
              </a:rPr>
              <a:t>Sales / Account Manager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406908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1A1A1"/>
                </a:solidFill>
                <a:latin typeface="IBM Plex Sans Thai"/>
              </a:rPr>
              <a:t>หลังมี case study → handle inbound + manage account expansion</a:t>
            </a:r>
          </a:p>
          <a:p>
            <a:pPr algn="l"/>
            <a:r>
              <a:rPr sz="1200" b="0">
                <a:solidFill>
                  <a:srgbClr val="A1A1A1"/>
                </a:solidFill>
                <a:latin typeface="IBM Plex Sans Thai"/>
              </a:rPr>
              <a:t>ต้องเข้าใจ B2B SaaS sales + ภาษาผู้บริหารไทย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397764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FF6B35"/>
                </a:solidFill>
                <a:latin typeface="Inter"/>
              </a:rPr>
              <a:t>฿60-100k + commission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937760"/>
            <a:ext cx="11064240" cy="128016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937760"/>
            <a:ext cx="1280160" cy="128016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39496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00FFBA"/>
                </a:solidFill>
                <a:latin typeface="Inter"/>
              </a:rPr>
              <a:t>M5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51206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AFAFA"/>
                </a:solidFill>
                <a:latin typeface="Inter"/>
              </a:rPr>
              <a:t>Integration Engineer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553212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1A1A1"/>
                </a:solidFill>
                <a:latin typeface="IBM Plex Sans Thai"/>
              </a:rPr>
              <a:t>Build platform จริง (no-code editor, queue, observability)</a:t>
            </a:r>
          </a:p>
          <a:p>
            <a:pPr algn="l"/>
            <a:r>
              <a:rPr sz="1200" b="0">
                <a:solidFill>
                  <a:srgbClr val="A1A1A1"/>
                </a:solidFill>
                <a:latin typeface="IBM Plex Sans Thai"/>
              </a:rPr>
              <a:t>Scale beyond done-for-you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544068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FF6B35"/>
                </a:solidFill>
                <a:latin typeface="Inter"/>
              </a:rPr>
              <a:t>฿100-150k/mo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717171"/>
                </a:solidFill>
                <a:latin typeface="IBM Plex Sans Thai"/>
              </a:rPr>
              <a:t>Founder allocation: M1-M2 sales+build 100%  →  M3-M4 sales+manage  →  M5-M6 enterprise+roadmap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17171"/>
                </a:solidFill>
                <a:latin typeface="Inter"/>
              </a:rPr>
              <a:t>Antiparallel Flow  ·  Strategy Deck  ·  Confidential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17171"/>
                </a:solidFill>
                <a:latin typeface="Inter"/>
              </a:rPr>
              <a:t>31 / 38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00FF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8463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FFBA"/>
                </a:solidFill>
                <a:latin typeface="Inter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AFAFA"/>
                </a:solidFill>
                <a:latin typeface="Inter"/>
              </a:rPr>
              <a:t>12-month product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64240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2743200" cy="402336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2743200" cy="73152"/>
          </a:xfrm>
          <a:prstGeom prst="rect">
            <a:avLst/>
          </a:prstGeom>
          <a:solidFill>
            <a:srgbClr val="00FF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286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0FFBA"/>
                </a:solidFill>
                <a:latin typeface="Inter"/>
              </a:rPr>
              <a:t>Q1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AFAFA"/>
                </a:solidFill>
                <a:latin typeface="Inter"/>
              </a:rPr>
              <a:t>FOUNDATION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83280"/>
            <a:ext cx="237744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1A1A1"/>
                </a:solidFill>
                <a:latin typeface="IBM Plex Sans Thai"/>
              </a:rPr>
              <a:t>• 5 case studies</a:t>
            </a:r>
          </a:p>
          <a:p>
            <a:pPr algn="l"/>
            <a:r>
              <a:rPr sz="1200" b="0">
                <a:solidFill>
                  <a:srgbClr val="A1A1A1"/>
                </a:solidFill>
                <a:latin typeface="IBM Plex Sans Thai"/>
              </a:rPr>
              <a:t>• 8 integrations live</a:t>
            </a:r>
          </a:p>
          <a:p>
            <a:pPr algn="l"/>
            <a:r>
              <a:rPr sz="1200" b="0">
                <a:solidFill>
                  <a:srgbClr val="A1A1A1"/>
                </a:solidFill>
                <a:latin typeface="IBM Plex Sans Thai"/>
              </a:rPr>
              <a:t>• Internal admin console</a:t>
            </a:r>
          </a:p>
          <a:p>
            <a:pPr algn="l"/>
            <a:r>
              <a:rPr sz="1200" b="0">
                <a:solidFill>
                  <a:srgbClr val="A1A1A1"/>
                </a:solidFill>
                <a:latin typeface="IBM Plex Sans Thai"/>
              </a:rPr>
              <a:t>• Basic observability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2011680"/>
            <a:ext cx="2743200" cy="402336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2011680"/>
            <a:ext cx="2743200" cy="73152"/>
          </a:xfrm>
          <a:prstGeom prst="rect">
            <a:avLst/>
          </a:prstGeom>
          <a:solidFill>
            <a:srgbClr val="00FF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2286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0FFBA"/>
                </a:solidFill>
                <a:latin typeface="Inter"/>
              </a:rPr>
              <a:t>Q2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6974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AFAFA"/>
                </a:solidFill>
                <a:latin typeface="Inter"/>
              </a:rPr>
              <a:t>PRODUCTIZE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3383280"/>
            <a:ext cx="237744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1A1A1"/>
                </a:solidFill>
                <a:latin typeface="IBM Plex Sans Thai"/>
              </a:rPr>
              <a:t>• 3 Workflow Packs</a:t>
            </a:r>
          </a:p>
          <a:p>
            <a:pPr algn="l"/>
            <a:r>
              <a:rPr sz="1200" b="0">
                <a:solidFill>
                  <a:srgbClr val="A1A1A1"/>
                </a:solidFill>
                <a:latin typeface="IBM Plex Sans Thai"/>
              </a:rPr>
              <a:t>• 15 integrations</a:t>
            </a:r>
          </a:p>
          <a:p>
            <a:pPr algn="l"/>
            <a:r>
              <a:rPr sz="1200" b="0">
                <a:solidFill>
                  <a:srgbClr val="A1A1A1"/>
                </a:solidFill>
                <a:latin typeface="IBM Plex Sans Thai"/>
              </a:rPr>
              <a:t>• Self-serve onboarding (Starter)</a:t>
            </a:r>
          </a:p>
          <a:p>
            <a:pPr algn="l"/>
            <a:r>
              <a:rPr sz="1200" b="0">
                <a:solidFill>
                  <a:srgbClr val="A1A1A1"/>
                </a:solidFill>
                <a:latin typeface="IBM Plex Sans Thai"/>
              </a:rPr>
              <a:t>• Customer dashboard v1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011680"/>
            <a:ext cx="2743200" cy="402336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2011680"/>
            <a:ext cx="2743200" cy="73152"/>
          </a:xfrm>
          <a:prstGeom prst="rect">
            <a:avLst/>
          </a:prstGeom>
          <a:solidFill>
            <a:srgbClr val="00FF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2286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0FFBA"/>
                </a:solidFill>
                <a:latin typeface="Inter"/>
              </a:rPr>
              <a:t>Q3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6974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AFAFA"/>
                </a:solidFill>
                <a:latin typeface="Inter"/>
              </a:rPr>
              <a:t>PLATFORM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383280"/>
            <a:ext cx="237744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1A1A1"/>
                </a:solidFill>
                <a:latin typeface="IBM Plex Sans Thai"/>
              </a:rPr>
              <a:t>• No-code workflow editor</a:t>
            </a:r>
          </a:p>
          <a:p>
            <a:pPr algn="l"/>
            <a:r>
              <a:rPr sz="1200" b="0">
                <a:solidFill>
                  <a:srgbClr val="A1A1A1"/>
                </a:solidFill>
                <a:latin typeface="IBM Plex Sans Thai"/>
              </a:rPr>
              <a:t>• 25 integrations (Thai-focus)</a:t>
            </a:r>
          </a:p>
          <a:p>
            <a:pPr algn="l"/>
            <a:r>
              <a:rPr sz="1200" b="0">
                <a:solidFill>
                  <a:srgbClr val="A1A1A1"/>
                </a:solidFill>
                <a:latin typeface="IBM Plex Sans Thai"/>
              </a:rPr>
              <a:t>• Multi-model routing</a:t>
            </a:r>
          </a:p>
          <a:p>
            <a:pPr algn="l"/>
            <a:r>
              <a:rPr sz="1200" b="0">
                <a:solidFill>
                  <a:srgbClr val="A1A1A1"/>
                </a:solidFill>
                <a:latin typeface="IBM Plex Sans Thai"/>
              </a:rPr>
              <a:t>• Audit/PDPA module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52560" y="2011680"/>
            <a:ext cx="2743200" cy="402336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52560" y="2011680"/>
            <a:ext cx="2743200" cy="73152"/>
          </a:xfrm>
          <a:prstGeom prst="rect">
            <a:avLst/>
          </a:prstGeom>
          <a:solidFill>
            <a:srgbClr val="00FF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81160" y="2286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0FFBA"/>
                </a:solidFill>
                <a:latin typeface="Inter"/>
              </a:rPr>
              <a:t>Q4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26974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AFAFA"/>
                </a:solidFill>
                <a:latin typeface="Inter"/>
              </a:rPr>
              <a:t>EXPAND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3383280"/>
            <a:ext cx="237744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1A1A1"/>
                </a:solidFill>
                <a:latin typeface="IBM Plex Sans Thai"/>
              </a:rPr>
              <a:t>• Marketplace (3rd-party templates)</a:t>
            </a:r>
          </a:p>
          <a:p>
            <a:pPr algn="l"/>
            <a:r>
              <a:rPr sz="1200" b="0">
                <a:solidFill>
                  <a:srgbClr val="A1A1A1"/>
                </a:solidFill>
                <a:latin typeface="IBM Plex Sans Thai"/>
              </a:rPr>
              <a:t>• Enterprise SSO + on-prem</a:t>
            </a:r>
          </a:p>
          <a:p>
            <a:pPr algn="l"/>
            <a:r>
              <a:rPr sz="1200" b="0">
                <a:solidFill>
                  <a:srgbClr val="A1A1A1"/>
                </a:solidFill>
                <a:latin typeface="IBM Plex Sans Thai"/>
              </a:rPr>
              <a:t>• Vertical packs (banking, retail)</a:t>
            </a:r>
          </a:p>
          <a:p>
            <a:pPr algn="l"/>
            <a:r>
              <a:rPr sz="1200" b="0">
                <a:solidFill>
                  <a:srgbClr val="A1A1A1"/>
                </a:solidFill>
                <a:latin typeface="IBM Plex Sans Thai"/>
              </a:rPr>
              <a:t>• Partner 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17171"/>
                </a:solidFill>
                <a:latin typeface="Inter"/>
              </a:rPr>
              <a:t>Antiparallel Flow  ·  Strategy Deck  ·  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17171"/>
                </a:solidFill>
                <a:latin typeface="Inter"/>
              </a:rPr>
              <a:t>32 / 38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8463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4757"/>
                </a:solidFill>
                <a:latin typeface="Inter"/>
              </a:rPr>
              <a:t>RISKS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AFAFA"/>
                </a:solidFill>
                <a:latin typeface="Inter"/>
              </a:rPr>
              <a:t>สิ่งที่ทำให้เราพัง — และแผนรับมือ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64240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5486400" cy="201168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73152" cy="2011680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7627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AFAFA"/>
                </a:solidFill>
                <a:latin typeface="IBM Plex Sans Thai"/>
              </a:rPr>
              <a:t>Model providers ออก native integration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7860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1A1A1"/>
                </a:solidFill>
                <a:latin typeface="IBM Plex Sans Thai"/>
              </a:rPr>
              <a:t>OpenAI / Anthropic เริ่มทำ Line integration เอง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4757"/>
                </a:solidFill>
                <a:latin typeface="Inter"/>
              </a:rPr>
              <a:t>Probability: ต่ำ-กลาง | Impact: สูง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9184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0FFBA"/>
                </a:solidFill>
                <a:latin typeface="IBM Plex Sans Thai"/>
              </a:rPr>
              <a:t>→ Lock-in ด้วย Thai compliance + customer data + LMS bundle</a:t>
            </a:r>
          </a:p>
          <a:p>
            <a:pPr algn="l"/>
            <a:r>
              <a:rPr sz="1000" b="0">
                <a:solidFill>
                  <a:srgbClr val="00FFBA"/>
                </a:solidFill>
                <a:latin typeface="IBM Plex Sans Thai"/>
              </a:rPr>
              <a:t>→ Move up-stack เร็ว: ทำ vertical workflow (sales OS, finance OS)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2011680"/>
            <a:ext cx="5486400" cy="201168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2011680"/>
            <a:ext cx="73152" cy="2011680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17627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AFAFA"/>
                </a:solidFill>
                <a:latin typeface="IBM Plex Sans Thai"/>
              </a:rPr>
              <a:t>Implementation bottleneck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57860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1A1A1"/>
                </a:solidFill>
                <a:latin typeface="IBM Plex Sans Thai"/>
              </a:rPr>
              <a:t>ขายได้แต่ deliver ไม่ทัน — ลูกค้า cancel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9260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4757"/>
                </a:solidFill>
                <a:latin typeface="Inter"/>
              </a:rPr>
              <a:t>Probability: สูง | Impact: สูง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29184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0FFBA"/>
                </a:solidFill>
                <a:latin typeface="IBM Plex Sans Thai"/>
              </a:rPr>
              <a:t>→ Hire implementation eng วันแรก</a:t>
            </a:r>
          </a:p>
          <a:p>
            <a:pPr algn="l"/>
            <a:r>
              <a:rPr sz="1000" b="0">
                <a:solidFill>
                  <a:srgbClr val="00FFBA"/>
                </a:solidFill>
                <a:latin typeface="IBM Plex Sans Thai"/>
              </a:rPr>
              <a:t>→ จำกัด pipeline ใน M1-M3 ไม่เกิน 5 deals พร้อมกัน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160520"/>
            <a:ext cx="5486400" cy="201168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160520"/>
            <a:ext cx="73152" cy="2011680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32511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AFAFA"/>
                </a:solidFill>
                <a:latin typeface="IBM Plex Sans Thai"/>
              </a:rPr>
              <a:t>API cost spike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72744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1A1A1"/>
                </a:solidFill>
                <a:latin typeface="IBM Plex Sans Thai"/>
              </a:rPr>
              <a:t>ลูกค้าใช้เยอะ margin หาย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0749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4757"/>
                </a:solidFill>
                <a:latin typeface="Inter"/>
              </a:rPr>
              <a:t>Probability: กลาง | Impact: กลาง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44068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0FFBA"/>
                </a:solidFill>
                <a:latin typeface="IBM Plex Sans Thai"/>
              </a:rPr>
              <a:t>→ Per-run pricing tier บน Starter, included runs บน Business</a:t>
            </a:r>
          </a:p>
          <a:p>
            <a:pPr algn="l"/>
            <a:r>
              <a:rPr sz="1000" b="0">
                <a:solidFill>
                  <a:srgbClr val="00FFBA"/>
                </a:solidFill>
                <a:latin typeface="IBM Plex Sans Thai"/>
              </a:rPr>
              <a:t>→ Multi-model routing: ใช้ Haiku/Flash สำหรับ task ง่าย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4160520"/>
            <a:ext cx="5486400" cy="201168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4160520"/>
            <a:ext cx="73152" cy="2011680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432511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AFAFA"/>
                </a:solidFill>
                <a:latin typeface="IBM Plex Sans Thai"/>
              </a:rPr>
              <a:t>Sale cycle ยาวกว่าคาด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72744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1A1A1"/>
                </a:solidFill>
                <a:latin typeface="IBM Plex Sans Thai"/>
              </a:rPr>
              <a:t>Corporate procurement 3-6 เดือน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50749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4757"/>
                </a:solidFill>
                <a:latin typeface="Inter"/>
              </a:rPr>
              <a:t>Probability: สูง | Impact: กลาง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544068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0FFBA"/>
                </a:solidFill>
                <a:latin typeface="IBM Plex Sans Thai"/>
              </a:rPr>
              <a:t>→ Land via LMS upsell (warm) → bypass procurement</a:t>
            </a:r>
          </a:p>
          <a:p>
            <a:pPr algn="l"/>
            <a:r>
              <a:rPr sz="1000" b="0">
                <a:solidFill>
                  <a:srgbClr val="00FFBA"/>
                </a:solidFill>
                <a:latin typeface="IBM Plex Sans Thai"/>
              </a:rPr>
              <a:t>→ Pilot program ฟรี 30 วัน เพื่อเลี่ยง PO เริ่มต้น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17171"/>
                </a:solidFill>
                <a:latin typeface="Inter"/>
              </a:rPr>
              <a:t>Antiparallel Flow  ·  Strategy Deck  ·  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17171"/>
                </a:solidFill>
                <a:latin typeface="Inter"/>
              </a:rPr>
              <a:t>33 / 38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00FF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8463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FFBA"/>
                </a:solidFill>
                <a:latin typeface="Inter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AFAFA"/>
                </a:solidFill>
                <a:latin typeface="Inter"/>
              </a:rPr>
              <a:t>สิ่งที่เราขอจาก board / investor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64240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FFBA"/>
                </a:solidFill>
                <a:latin typeface="Inter"/>
              </a:rPr>
              <a:t>RESOURCES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423160"/>
            <a:ext cx="11064240" cy="64008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060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AFAFA"/>
                </a:solidFill>
                <a:latin typeface="IBM Plex Sans Thai"/>
              </a:rPr>
              <a:t>Budget — 6 months operating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58775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00FFBA"/>
                </a:solidFill>
                <a:latin typeface="Inter"/>
              </a:rPr>
              <a:t>฿4.5M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262432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1A1A1"/>
                </a:solidFill>
                <a:latin typeface="IBM Plex Sans Thai"/>
              </a:rPr>
              <a:t>3 hires + API/infra + sales/marketing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136392"/>
            <a:ext cx="11064240" cy="64008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31927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AFAFA"/>
                </a:solidFill>
                <a:latin typeface="IBM Plex Sans Thai"/>
              </a:rPr>
              <a:t>Founder time allocation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3300984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00FFBA"/>
                </a:solidFill>
                <a:latin typeface="Inter"/>
              </a:rPr>
              <a:t>70%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333756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1A1A1"/>
                </a:solidFill>
                <a:latin typeface="IBM Plex Sans Thai"/>
              </a:rPr>
              <a:t>ลด LMS day-to-day, focus Flow GTM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849624"/>
            <a:ext cx="11064240" cy="64008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032504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AFAFA"/>
                </a:solidFill>
                <a:latin typeface="IBM Plex Sans Thai"/>
              </a:rPr>
              <a:t>LMS customer access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4014216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00FFBA"/>
                </a:solidFill>
                <a:latin typeface="Inter"/>
              </a:rPr>
              <a:t>Tier 1+2 list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05079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1A1A1"/>
                </a:solidFill>
                <a:latin typeface="IBM Plex Sans Thai"/>
              </a:rPr>
              <a:t>Workshop intro กับ HR/L&amp;D head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562856"/>
            <a:ext cx="11064240" cy="64008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745736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AFAFA"/>
                </a:solidFill>
                <a:latin typeface="IBM Plex Sans Thai"/>
              </a:rPr>
              <a:t>Advisor: enterprise SaaS sales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4727448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00FFBA"/>
                </a:solidFill>
                <a:latin typeface="Inter"/>
              </a:rPr>
              <a:t>1 person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4764024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1A1A1"/>
                </a:solidFill>
                <a:latin typeface="IBM Plex Sans Thai"/>
              </a:rPr>
              <a:t>Sounding board สำหรับ enterprise deal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486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6B35"/>
                </a:solidFill>
                <a:latin typeface="Inter"/>
              </a:rPr>
              <a:t>EXPECTED OUTCOME (M6)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852160"/>
            <a:ext cx="2697480" cy="77724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94360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0FFBA"/>
                </a:solidFill>
                <a:latin typeface="Inter"/>
              </a:rPr>
              <a:t>฿7-10M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35508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1A1A1"/>
                </a:solidFill>
                <a:latin typeface="IBM Plex Sans Thai"/>
              </a:rPr>
              <a:t>ARR run-rate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37560" y="5852160"/>
            <a:ext cx="2697480" cy="77724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20440" y="594360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0FFBA"/>
                </a:solidFill>
                <a:latin typeface="Inter"/>
              </a:rPr>
              <a:t>22+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0440" y="635508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1A1A1"/>
                </a:solidFill>
                <a:latin typeface="IBM Plex Sans Thai"/>
              </a:rPr>
              <a:t>Paying customers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5852160"/>
            <a:ext cx="2697480" cy="77724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594360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0FFBA"/>
                </a:solidFill>
                <a:latin typeface="Inter"/>
              </a:rPr>
              <a:t>2+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635508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1A1A1"/>
                </a:solidFill>
                <a:latin typeface="IBM Plex Sans Thai"/>
              </a:rPr>
              <a:t>Enterprise deals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915400" y="5852160"/>
            <a:ext cx="2697480" cy="77724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98280" y="594360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0FFBA"/>
                </a:solidFill>
                <a:latin typeface="Inter"/>
              </a:rPr>
              <a:t>66%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8280" y="635508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1A1A1"/>
                </a:solidFill>
                <a:latin typeface="IBM Plex Sans Thai"/>
              </a:rPr>
              <a:t>Gross margin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17171"/>
                </a:solidFill>
                <a:latin typeface="Inter"/>
              </a:rPr>
              <a:t>Antiparallel Flow  ·  Strategy Deck  ·  Confidential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17171"/>
                </a:solidFill>
                <a:latin typeface="Inter"/>
              </a:rPr>
              <a:t>34 / 38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FF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FFBA"/>
                </a:solidFill>
                <a:latin typeface="Inter"/>
              </a:rP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AFAFA"/>
                </a:solidFill>
                <a:latin typeface="IBM Plex Sans Thai"/>
              </a:rPr>
              <a:t>เราไม่ได้สร้างแค่ tool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00FFBA"/>
                </a:solidFill>
                <a:latin typeface="IBM Plex Sans Thai"/>
              </a:rPr>
              <a:t>เราสร้างชั้น AI ที่ฝังในธุรกิจไทย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4805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A1A1A1"/>
                </a:solidFill>
                <a:latin typeface="IBM Plex Sans Thai"/>
              </a:rPr>
              <a:t>จาก LMS → ระบบการสอน  →  สู่ Flow → ระบบการทำงาน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120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A1A1A1"/>
                </a:solidFill>
                <a:latin typeface="IBM Plex Sans Thai"/>
              </a:rPr>
              <a:t>องค์กรไทยที่ใช้ Antiparallel จะถอดเราออกไม่ได้ในอีก 5 ปี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035040"/>
            <a:ext cx="10698480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172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AFAFA"/>
                </a:solidFill>
                <a:latin typeface="Inter"/>
              </a:rPr>
              <a:t>Antiparallel Flow  ·  Let's build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1722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00FFBA"/>
                </a:solidFill>
                <a:latin typeface="Inter"/>
              </a:rPr>
              <a:t>antiparallel.app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00FF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8463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FFBA"/>
                </a:solidFill>
                <a:latin typeface="Inter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AFAFA"/>
                </a:solidFill>
                <a:latin typeface="Inter"/>
              </a:rPr>
              <a:t>20 workflows that sell in Thailand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64240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FFBA"/>
                </a:solidFill>
                <a:latin typeface="Inter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1168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AFAFA"/>
                </a:solidFill>
                <a:latin typeface="IBM Plex Sans Thai"/>
              </a:rPr>
              <a:t>Line OA → Auto reply + CRM lead capture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23160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FFBA"/>
                </a:solidFill>
                <a:latin typeface="Inter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2316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AFAFA"/>
                </a:solidFill>
                <a:latin typeface="IBM Plex Sans Thai"/>
              </a:rPr>
              <a:t>Slip โอนเงิน → Verify + update order + ส่งใบกำกับ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834640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FFBA"/>
                </a:solidFill>
                <a:latin typeface="Inter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83464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AFAFA"/>
                </a:solidFill>
                <a:latin typeface="IBM Plex Sans Thai"/>
              </a:rPr>
              <a:t>Email ใบเสร็จ → FlowAccount entry + tax categorization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46120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FFBA"/>
                </a:solidFill>
                <a:latin typeface="Inter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24612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AFAFA"/>
                </a:solidFill>
                <a:latin typeface="IBM Plex Sans Thai"/>
              </a:rPr>
              <a:t>Resume PDF → Score + rank + auto-schedule interview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657600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FFBA"/>
                </a:solidFill>
                <a:latin typeface="Inter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65760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AFAFA"/>
                </a:solidFill>
                <a:latin typeface="IBM Plex Sans Thai"/>
              </a:rPr>
              <a:t>Google Meet → Thai notes + action items + Slack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069080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FFBA"/>
                </a:solidFill>
                <a:latin typeface="Inter"/>
              </a:rPr>
              <a:t>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06908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AFAFA"/>
                </a:solidFill>
                <a:latin typeface="IBM Plex Sans Thai"/>
              </a:rPr>
              <a:t>Line group ลูกค้า → Sentiment alert + escalation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80560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FFBA"/>
                </a:solidFill>
                <a:latin typeface="Inter"/>
              </a:rPr>
              <a:t>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48056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AFAFA"/>
                </a:solidFill>
                <a:latin typeface="IBM Plex Sans Thai"/>
              </a:rPr>
              <a:t>Customer email → Categorize + draft reply + assign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892040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FFBA"/>
                </a:solidFill>
                <a:latin typeface="Inter"/>
              </a:rPr>
              <a:t>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89204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AFAFA"/>
                </a:solidFill>
                <a:latin typeface="IBM Plex Sans Thai"/>
              </a:rPr>
              <a:t>Daily sales → Auto-summary deck + email exec team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303520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FFBA"/>
                </a:solidFill>
                <a:latin typeface="Inter"/>
              </a:rPr>
              <a:t>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30352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AFAFA"/>
                </a:solidFill>
                <a:latin typeface="IBM Plex Sans Thai"/>
              </a:rPr>
              <a:t>Stock alert (Sheet) → Reorder + supplier email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715000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FFBA"/>
                </a:solidFill>
                <a:latin typeface="Inter"/>
              </a:rPr>
              <a:t>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571500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AFAFA"/>
                </a:solidFill>
                <a:latin typeface="IBM Plex Sans Thai"/>
              </a:rPr>
              <a:t>Calendar event → Pre-meeting brief from CRM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2011680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FFBA"/>
                </a:solidFill>
                <a:latin typeface="Inter"/>
              </a:rPr>
              <a:t>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201168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AFAFA"/>
                </a:solidFill>
                <a:latin typeface="IBM Plex Sans Thai"/>
              </a:rPr>
              <a:t>Support ticket → Suggest reply from knowledge base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2423160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FFBA"/>
                </a:solidFill>
                <a:latin typeface="Inter"/>
              </a:rPr>
              <a:t>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242316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AFAFA"/>
                </a:solidFill>
                <a:latin typeface="IBM Plex Sans Thai"/>
              </a:rPr>
              <a:t>Job posting → Multi-channel post (LinkedIn, JobsDB, Line)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2834640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FFBA"/>
                </a:solidFill>
                <a:latin typeface="Inter"/>
              </a:rPr>
              <a:t>13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283464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AFAFA"/>
                </a:solidFill>
                <a:latin typeface="IBM Plex Sans Thai"/>
              </a:rPr>
              <a:t>Invoice overdue → Polite Thai reminder sequence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3246120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FFBA"/>
                </a:solidFill>
                <a:latin typeface="Inter"/>
              </a:rPr>
              <a:t>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324612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AFAFA"/>
                </a:solidFill>
                <a:latin typeface="IBM Plex Sans Thai"/>
              </a:rPr>
              <a:t>ลงเวลาเข้า-ออก → Payroll prep + anomaly detection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3657600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FFBA"/>
                </a:solidFill>
                <a:latin typeface="Inter"/>
              </a:rPr>
              <a:t>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365760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AFAFA"/>
                </a:solidFill>
                <a:latin typeface="IBM Plex Sans Thai"/>
              </a:rPr>
              <a:t>OKR check-in → Auto-collect status from Slack/email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4069080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FFBA"/>
                </a:solidFill>
                <a:latin typeface="Inter"/>
              </a:rPr>
              <a:t>16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406908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AFAFA"/>
                </a:solidFill>
                <a:latin typeface="IBM Plex Sans Thai"/>
              </a:rPr>
              <a:t>Competitor news → Daily Thai summary to leadership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0" y="4480560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FFBA"/>
                </a:solidFill>
                <a:latin typeface="Inter"/>
              </a:rPr>
              <a:t>17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448056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AFAFA"/>
                </a:solidFill>
                <a:latin typeface="IBM Plex Sans Thai"/>
              </a:rPr>
              <a:t>Customer onboarding → Multi-step Line + email journey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6480" y="4892040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FFBA"/>
                </a:solidFill>
                <a:latin typeface="Inter"/>
              </a:rPr>
              <a:t>18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489204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AFAFA"/>
                </a:solidFill>
                <a:latin typeface="IBM Plex Sans Thai"/>
              </a:rPr>
              <a:t>Expense report → OCR + policy check + approval routing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0" y="5303520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FFBA"/>
                </a:solidFill>
                <a:latin typeface="Inter"/>
              </a:rPr>
              <a:t>19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7960" y="530352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AFAFA"/>
                </a:solidFill>
                <a:latin typeface="IBM Plex Sans Thai"/>
              </a:rPr>
              <a:t>Contract → Risk flag + clause comparison vs template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26480" y="5715000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FFBA"/>
                </a:solidFill>
                <a:latin typeface="Inter"/>
              </a:rPr>
              <a:t>20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37960" y="571500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AFAFA"/>
                </a:solidFill>
                <a:latin typeface="IBM Plex Sans Thai"/>
              </a:rPr>
              <a:t>Weekly all-hands → Auto compile updates from each team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17171"/>
                </a:solidFill>
                <a:latin typeface="Inter"/>
              </a:rPr>
              <a:t>Antiparallel Flow  ·  Strategy Deck  ·  Confidential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17171"/>
                </a:solidFill>
                <a:latin typeface="Inter"/>
              </a:rPr>
              <a:t>36 / 38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00FF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8463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FFBA"/>
                </a:solidFill>
                <a:latin typeface="Inter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AFAFA"/>
                </a:solidFill>
                <a:latin typeface="Inter"/>
              </a:rPr>
              <a:t>AI Workflow Discovery Workshop — 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64240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11064240" cy="64008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FFBA"/>
                </a:solidFill>
                <a:latin typeface="Inter"/>
              </a:rPr>
              <a:t>0:00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1031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AFAFA"/>
                </a:solidFill>
                <a:latin typeface="IBM Plex Sans Thai"/>
              </a:rPr>
              <a:t>Welcome + 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3774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1A1A1"/>
                </a:solidFill>
                <a:latin typeface="IBM Plex Sans Thai"/>
              </a:rPr>
              <a:t>Frame: เราจะมาหา 3 workflow ที่ AI ทำได้ในบริษัทคุณ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724912"/>
            <a:ext cx="11064240" cy="64008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90779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FFBA"/>
                </a:solidFill>
                <a:latin typeface="Inter"/>
              </a:rPr>
              <a:t>0:10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81635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AFAFA"/>
                </a:solidFill>
                <a:latin typeface="IBM Plex Sans Thai"/>
              </a:rPr>
              <a:t>Pain point round-robin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09067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1A1A1"/>
                </a:solidFill>
                <a:latin typeface="IBM Plex Sans Thai"/>
              </a:rPr>
              <a:t>ให้แต่ละ manager เล่างานที่เสียเวลาที่สุด 1 อย่าง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438144"/>
            <a:ext cx="11064240" cy="64008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621024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FFBA"/>
                </a:solidFill>
                <a:latin typeface="Inter"/>
              </a:rPr>
              <a:t>0:40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3529584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AFAFA"/>
                </a:solidFill>
                <a:latin typeface="IBM Plex Sans Thai"/>
              </a:rPr>
              <a:t>Live demo: build workflow ใน 15 นาที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38039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1A1A1"/>
                </a:solidFill>
                <a:latin typeface="IBM Plex Sans Thai"/>
              </a:rPr>
              <a:t>เลือก 1 pain ที่ทุกคนอินที่สุด → build บนหน้าจอ → ทุกคนเห็น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151376"/>
            <a:ext cx="11064240" cy="64008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334256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FFBA"/>
                </a:solidFill>
                <a:latin typeface="Inter"/>
              </a:rPr>
              <a:t>1:00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4242816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AFAFA"/>
                </a:solidFill>
                <a:latin typeface="IBM Plex Sans Thai"/>
              </a:rPr>
              <a:t>Workshop: คัด 3 workflow ที่ ROI สูงสุด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4517136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1A1A1"/>
                </a:solidFill>
                <a:latin typeface="IBM Plex Sans Thai"/>
              </a:rPr>
              <a:t>Frame matrix: effort to build × impact when running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864608"/>
            <a:ext cx="11064240" cy="64008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047488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FFBA"/>
                </a:solidFill>
                <a:latin typeface="Inter"/>
              </a:rPr>
              <a:t>1:30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495604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AFAFA"/>
                </a:solidFill>
                <a:latin typeface="IBM Plex Sans Thai"/>
              </a:rPr>
              <a:t>Pricing + next step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523036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1A1A1"/>
                </a:solidFill>
                <a:latin typeface="IBM Plex Sans Thai"/>
              </a:rPr>
              <a:t>Quick Win Package: build 1 workflow ใน 2 สัปดาห์ ฿80k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577840"/>
            <a:ext cx="11064240" cy="64008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76072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FFBA"/>
                </a:solidFill>
                <a:latin typeface="Inter"/>
              </a:rPr>
              <a:t>1:45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11680" y="56692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AFAFA"/>
                </a:solidFill>
                <a:latin typeface="IBM Plex Sans Thai"/>
              </a:rPr>
              <a:t>Q&amp;A + close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1680" y="59436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1A1A1"/>
                </a:solidFill>
                <a:latin typeface="IBM Plex Sans Thai"/>
              </a:rPr>
              <a:t>MoU/LOI หาก decision maker อยู่ในห้อง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17171"/>
                </a:solidFill>
                <a:latin typeface="Inter"/>
              </a:rPr>
              <a:t>Antiparallel Flow  ·  Strategy Deck  ·  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17171"/>
                </a:solidFill>
                <a:latin typeface="Inter"/>
              </a:rPr>
              <a:t>37 / 38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00FF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8463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FFBA"/>
                </a:solidFill>
                <a:latin typeface="Inter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AFAFA"/>
                </a:solidFill>
                <a:latin typeface="Inter"/>
              </a:rPr>
              <a:t>Top objections + คำตอบ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64240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11064240" cy="82296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73152" cy="8229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488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6B35"/>
                </a:solidFill>
                <a:latin typeface="IBM Plex Sans Thai"/>
              </a:rPr>
              <a:t>"ใช้ ChatGPT/Claude เองก็ได้"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688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AFAFA"/>
                </a:solidFill>
                <a:latin typeface="IBM Plex Sans Thai"/>
              </a:rPr>
              <a:t>เห็นด้วยครับ — แต่ ChatGPT ไม่เชื่อม Line OA, ไม่เข้า FlowAccount, ไม่ออกใบกำกับภาษี</a:t>
            </a:r>
          </a:p>
          <a:p>
            <a:pPr algn="l"/>
            <a:r>
              <a:rPr sz="1100" b="0">
                <a:solidFill>
                  <a:srgbClr val="FAFAFA"/>
                </a:solidFill>
                <a:latin typeface="IBM Plex Sans Thai"/>
              </a:rPr>
              <a:t>เรา = glue layer ระหว่าง AI กับระบบไทยที่คุณใช้อยู่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907792"/>
            <a:ext cx="11064240" cy="82296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907792"/>
            <a:ext cx="73152" cy="8229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04495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6B35"/>
                </a:solidFill>
                <a:latin typeface="IBM Plex Sans Thai"/>
              </a:rPr>
              <a:t>"เราใช้ Zapier/Make อยู่แล้ว"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364992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AFAFA"/>
                </a:solidFill>
                <a:latin typeface="IBM Plex Sans Thai"/>
              </a:rPr>
              <a:t>เยี่ยมเลย — เราเป็น layer บน เพราะ Zapier/Make ไม่มี AI native + Thai integration อ่อน</a:t>
            </a:r>
          </a:p>
          <a:p>
            <a:pPr algn="l"/>
            <a:r>
              <a:rPr sz="1100" b="0">
                <a:solidFill>
                  <a:srgbClr val="FAFAFA"/>
                </a:solidFill>
                <a:latin typeface="IBM Plex Sans Thai"/>
              </a:rPr>
              <a:t>เรา handle Line OA + ไทย + AI decision logic ที่ Zapier ทำไม่ได้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803904"/>
            <a:ext cx="11064240" cy="82296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803904"/>
            <a:ext cx="73152" cy="8229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941064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6B35"/>
                </a:solidFill>
                <a:latin typeface="IBM Plex Sans Thai"/>
              </a:rPr>
              <a:t>"แพงไป"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261104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AFAFA"/>
                </a:solidFill>
                <a:latin typeface="IBM Plex Sans Thai"/>
              </a:rPr>
              <a:t>เทียบกับเวลาที่เสียจาก copy-paste มือ — บริษัท 200 คน เสีย ฿2.4M/ปี</a:t>
            </a:r>
          </a:p>
          <a:p>
            <a:pPr algn="l"/>
            <a:r>
              <a:rPr sz="1100" b="0">
                <a:solidFill>
                  <a:srgbClr val="FAFAFA"/>
                </a:solidFill>
                <a:latin typeface="IBM Plex Sans Thai"/>
              </a:rPr>
              <a:t>Flow ฿420k/ปี = ROI 5×+ ภายใน 6 เดือน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700016"/>
            <a:ext cx="11064240" cy="82296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700016"/>
            <a:ext cx="73152" cy="8229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837176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6B35"/>
                </a:solidFill>
                <a:latin typeface="IBM Plex Sans Thai"/>
              </a:rPr>
              <a:t>"แล้วถ้า AI ตอบผิด ใครรับผิด?"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157216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AFAFA"/>
                </a:solidFill>
                <a:latin typeface="IBM Plex Sans Thai"/>
              </a:rPr>
              <a:t>Human-in-the-loop เป็น default — AI draft, มนุษย์อนุมัติ</a:t>
            </a:r>
          </a:p>
          <a:p>
            <a:pPr algn="l"/>
            <a:r>
              <a:rPr sz="1100" b="0">
                <a:solidFill>
                  <a:srgbClr val="FAFAFA"/>
                </a:solidFill>
                <a:latin typeface="IBM Plex Sans Thai"/>
              </a:rPr>
              <a:t>Log ทุก decision เพื่อ audit + adjust prompt ได้ตลอด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596128"/>
            <a:ext cx="11064240" cy="82296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596128"/>
            <a:ext cx="73152" cy="8229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73328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6B35"/>
                </a:solidFill>
                <a:latin typeface="IBM Plex Sans Thai"/>
              </a:rPr>
              <a:t>"เปลี่ยน model ใหม่ทุก 6 เดือน ตามไม่ทัน"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053328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AFAFA"/>
                </a:solidFill>
                <a:latin typeface="IBM Plex Sans Thai"/>
              </a:rPr>
              <a:t>Flow เป็น model-agnostic — เปลี่ยน GPT-5 → Claude → Gemini ได้ใน config</a:t>
            </a:r>
          </a:p>
          <a:p>
            <a:pPr algn="l"/>
            <a:r>
              <a:rPr sz="1100" b="0">
                <a:solidFill>
                  <a:srgbClr val="FAFAFA"/>
                </a:solidFill>
                <a:latin typeface="IBM Plex Sans Thai"/>
              </a:rPr>
              <a:t>ลูกค้าได้ feature ใหม่ฟรี ไม่ใช่ภาระ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17171"/>
                </a:solidFill>
                <a:latin typeface="Inter"/>
              </a:rPr>
              <a:t>Antiparallel Flow  ·  Strategy Deck  ·  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17171"/>
                </a:solidFill>
                <a:latin typeface="Inter"/>
              </a:rPr>
              <a:t>38 / 38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